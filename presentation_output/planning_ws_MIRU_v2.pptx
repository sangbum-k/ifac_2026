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3bd6c919b14f91" /><Relationship Type="http://schemas.openxmlformats.org/officeDocument/2006/relationships/extended-properties" Target="/docProps/app.xml" Id="R21f9e2b17d214925" /><Relationship Type="http://schemas.openxmlformats.org/officeDocument/2006/relationships/officeDocument" Target="/ppt/presentation.xml" Id="Ree85b089fa0d4b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4272d811f14f6e"/>
  </p:sldMasterIdLst>
  <p:notesMasterIdLst>
    <p:notesMasterId xmlns:r="http://schemas.openxmlformats.org/officeDocument/2006/relationships" r:id="R9618a10b4fc446b6"/>
  </p:notesMasterIdLst>
  <p:sldIdLst>
    <p:sldId xmlns:r="http://schemas.openxmlformats.org/officeDocument/2006/relationships" id="256" r:id="R111b52cfabef4277"/>
    <p:sldId xmlns:r="http://schemas.openxmlformats.org/officeDocument/2006/relationships" id="257" r:id="Rbddff3904d984258"/>
    <p:sldId xmlns:r="http://schemas.openxmlformats.org/officeDocument/2006/relationships" id="258" r:id="R61a171ecaf164cb4"/>
    <p:sldId xmlns:r="http://schemas.openxmlformats.org/officeDocument/2006/relationships" id="259" r:id="R738834aa143c429b"/>
    <p:sldId xmlns:r="http://schemas.openxmlformats.org/officeDocument/2006/relationships" id="260" r:id="R229b6ba4f8784559"/>
    <p:sldId xmlns:r="http://schemas.openxmlformats.org/officeDocument/2006/relationships" id="261" r:id="Rbeca42575f984149"/>
    <p:sldId xmlns:r="http://schemas.openxmlformats.org/officeDocument/2006/relationships" id="262" r:id="R839b2ea19b00484f"/>
    <p:sldId xmlns:r="http://schemas.openxmlformats.org/officeDocument/2006/relationships" id="263" r:id="R65b705fd64df4b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d9fc73a57f4064" /><Relationship Type="http://schemas.openxmlformats.org/officeDocument/2006/relationships/slideMaster" Target="/ppt/slideMasters/slideMaster1.xml" Id="R174272d811f14f6e" /><Relationship Type="http://schemas.openxmlformats.org/officeDocument/2006/relationships/notesMaster" Target="/ppt/notesMasters/notesMaster1.xml" Id="R9618a10b4fc446b6" /><Relationship Type="http://schemas.openxmlformats.org/officeDocument/2006/relationships/presProps" Target="/ppt/presProps.xml" Id="R80df9a88db454cb9" /><Relationship Type="http://schemas.openxmlformats.org/officeDocument/2006/relationships/viewProps" Target="/ppt/viewProps.xml" Id="Rea07975edc9c4064" /><Relationship Type="http://schemas.openxmlformats.org/officeDocument/2006/relationships/tableStyles" Target="/ppt/tableStyles.xml" Id="Rf737a81cfb434c84" /><Relationship Type="http://schemas.openxmlformats.org/officeDocument/2006/relationships/slide" Target="/ppt/slides/slide1.xml" Id="R111b52cfabef4277" /><Relationship Type="http://schemas.openxmlformats.org/officeDocument/2006/relationships/slide" Target="/ppt/slides/slide2.xml" Id="Rbddff3904d984258" /><Relationship Type="http://schemas.openxmlformats.org/officeDocument/2006/relationships/slide" Target="/ppt/slides/slide3.xml" Id="R61a171ecaf164cb4" /><Relationship Type="http://schemas.openxmlformats.org/officeDocument/2006/relationships/slide" Target="/ppt/slides/slide4.xml" Id="R738834aa143c429b" /><Relationship Type="http://schemas.openxmlformats.org/officeDocument/2006/relationships/slide" Target="/ppt/slides/slide5.xml" Id="R229b6ba4f8784559" /><Relationship Type="http://schemas.openxmlformats.org/officeDocument/2006/relationships/slide" Target="/ppt/slides/slide6.xml" Id="Rbeca42575f984149" /><Relationship Type="http://schemas.openxmlformats.org/officeDocument/2006/relationships/slide" Target="/ppt/slides/slide7.xml" Id="R839b2ea19b00484f" /><Relationship Type="http://schemas.openxmlformats.org/officeDocument/2006/relationships/slide" Target="/ppt/slides/slide8.xml" Id="R65b705fd64df4b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a468ba6e1f4d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발표자료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1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a934c1cca44200" /><Relationship Type="http://schemas.openxmlformats.org/officeDocument/2006/relationships/notesMaster" Target="/ppt/notesMasters/notesMaster1.xml" Id="R83d778cbe0e942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aac0499a7c4c7a" /><Relationship Type="http://schemas.openxmlformats.org/officeDocument/2006/relationships/notesMaster" Target="/ppt/notesMasters/notesMaster1.xml" Id="R5f05739afd344d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6c22a8deda4100" /><Relationship Type="http://schemas.openxmlformats.org/officeDocument/2006/relationships/notesMaster" Target="/ppt/notesMasters/notesMaster1.xml" Id="Re121c03dc7094d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79fc75dbe2485d" /><Relationship Type="http://schemas.openxmlformats.org/officeDocument/2006/relationships/notesMaster" Target="/ppt/notesMasters/notesMaster1.xml" Id="R1e4cc4fee52f47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430592852b433c" /><Relationship Type="http://schemas.openxmlformats.org/officeDocument/2006/relationships/notesMaster" Target="/ppt/notesMasters/notesMaster1.xml" Id="Ra31461a5a00245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181f1e76074551" /><Relationship Type="http://schemas.openxmlformats.org/officeDocument/2006/relationships/notesMaster" Target="/ppt/notesMasters/notesMaster1.xml" Id="Raaae63ce1a024f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9f4893949c4ae8" /><Relationship Type="http://schemas.openxmlformats.org/officeDocument/2006/relationships/notesMaster" Target="/ppt/notesMasters/notesMaster1.xml" Id="Rab5741441db446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de08d72acc4029" /><Relationship Type="http://schemas.openxmlformats.org/officeDocument/2006/relationships/notesMaster" Target="/ppt/notesMasters/notesMaster1.xml" Id="R656afb18202444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8371a5f2fb4f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2ec2f788424a9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afb717e3ec45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5387848d70448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35d4ad0cb7492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bb746a99844ce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67b0c91f8f4ed7" /><Relationship Type="http://schemas.openxmlformats.org/officeDocument/2006/relationships/image" Target="/ppt/media/image.png" Id="Rdb4bf2a7b056475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3dd9838de84e2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35cb83e8304b4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8fc918eba342e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286dd335014f6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7aa8ed4a1c420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386fdaf280464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8c546526f94b54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F4EE14CE-7377-5375-F0F6-A31B61FA592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2340736"/>
            <a:ext cx="9144000" cy="15051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>
              <a:buNone/>
              <a:defRPr sz="4800" b="1" kern="1200">
                <a:solidFill>
                  <a:srgbClr val="00206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31C11F34-70E7-81F3-180B-8CBCD61399C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4259487"/>
            <a:ext cx="9144000" cy="109091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r" defTabSz="914400">
              <a:lnSpc>
                <a:spcPct val="100000"/>
              </a:lnSpc>
              <a:spcBef>
                <a:spcPts val="1000"/>
              </a:spcBef>
              <a:buFont typeface="Wingdings"/>
              <a:buNone/>
              <a:defRPr sz="1800" b="1" kern="1200">
                <a:solidFill>
                  <a:srgbClr val="002060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클릭하여 마스터 부제목 스타일 편집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A6B9AA41-F330-95B9-7491-743902EA7D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A3AAFEFD-318D-8CED-0B60-9C8A3EBDCC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857BD5B5-D872-277F-C6D1-30873898FB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sp>
        <p:nvSpPr>
          <p:cNvPr id="7" name="Google Shape;64;p14">
            <a:extLst xmlns:a="http://schemas.openxmlformats.org/drawingml/2006/main">
              <a:ext uri="{FF2B5EF4-FFF2-40B4-BE49-F238E27FC236}">
                <a16:creationId xmlns:a16="http://schemas.microsoft.com/office/drawing/2014/main" id="{C57040B6-376D-49DB-0E64-B84CD3A4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33914"/>
            <a:ext cx="9144000" cy="752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solidFill>
              <a:srgbClr val="002060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" name="Google Shape;66;p14"/>
          <p:cNvCxnSpPr/>
          <p:nvPr/>
        </p:nvCxnSpPr>
        <p:spPr>
          <a:xfrm xmlns:a="http://schemas.openxmlformats.org/drawingml/2006/main">
            <a:off x="1524000" y="3891813"/>
            <a:ext cx="914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ACF34B8D-7B00-C0D3-1C68-B0A5E7419C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0581" y="253038"/>
            <a:ext cx="10515600" cy="7955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206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DD384A96-BCC4-0A62-6906-AAAE50E5D2AD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838200" y="1084271"/>
            <a:ext cx="10515600" cy="5213518"/>
          </a:xfrm>
        </p:spPr>
        <p:txBody>
          <a:bodyPr xmlns:a="http://schemas.openxmlformats.org/drawingml/2006/main"/>
          <a:lstStyle xmlns:a="http://schemas.openxmlformats.org/drawingml/2006/main">
            <a:lvl1pPr marL="447675" indent="-447675">
              <a:lnSpc>
                <a:spcPct val="100000"/>
              </a:lnSpc>
              <a:buFont typeface="맑은 고딕"/>
              <a:buChar char="■"/>
              <a:defRPr sz="2400" b="1" kern="1200" baseline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marL="808038" indent="-350838">
              <a:lnSpc>
                <a:spcPct val="100000"/>
              </a:lnSpc>
              <a:buFont typeface="맑은 고딕"/>
              <a:buChar char="▶"/>
              <a:defRPr sz="2000" b="0" kern="1200" baseline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00000"/>
              </a:lnSpc>
              <a:buFont typeface="Arial"/>
              <a:buChar char="•"/>
              <a:defRPr sz="1800" b="0" kern="1200" baseline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>
              <a:lnSpc>
                <a:spcPct val="100000"/>
              </a:lnSpc>
              <a:buNone/>
              <a:defRPr sz="1800" b="0" kern="1200" baseline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>
              <a:lnSpc>
                <a:spcPct val="100000"/>
              </a:lnSpc>
              <a:buNone/>
              <a:defRPr sz="1600" b="0" kern="1200" baseline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38B1A8A2-C7CE-8526-8B2B-55F39C991E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724400" y="639677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sp>
        <p:nvSpPr>
          <p:cNvPr id="14" name="Rectangle: Diagonal Corners Snipped 13">
            <a:extLst xmlns:a="http://schemas.openxmlformats.org/drawingml/2006/main">
              <a:ext uri="{FF2B5EF4-FFF2-40B4-BE49-F238E27FC236}">
                <a16:creationId xmlns:a16="http://schemas.microsoft.com/office/drawing/2014/main" id="{32E1E129-D1D8-CEB5-B886-48059CE0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3038" cy="253038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50FAF677-AFB6-C967-B081-992A0059CA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91CD12F2-6531-D905-BC98-EC37AC6B20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5765FD8D-22A4-4DB2-518D-19D3A46EEF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158BF571-04FA-37A5-22FB-C115EA39B1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C52AE32E-6DF7-408B-92EA-0842EC7571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1_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50FAF677-AFB6-C967-B081-992A0059CA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06814" y="2323118"/>
            <a:ext cx="8340636" cy="1934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800" b="1" kern="1200">
                <a:solidFill>
                  <a:srgbClr val="00206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5765FD8D-22A4-4DB2-518D-19D3A46EEF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158BF571-04FA-37A5-22FB-C115EA39B1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C52AE32E-6DF7-408B-92EA-0842EC7571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sp>
        <p:nvSpPr>
          <p:cNvPr id="7" name="Google Shape;64;p14">
            <a:extLst xmlns:a="http://schemas.openxmlformats.org/drawingml/2006/main">
              <a:ext uri="{FF2B5EF4-FFF2-40B4-BE49-F238E27FC236}">
                <a16:creationId xmlns:a16="http://schemas.microsoft.com/office/drawing/2014/main" id="{C57040B6-376D-49DB-0E64-B84CD3A4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814" y="4289309"/>
            <a:ext cx="9144000" cy="752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solidFill>
              <a:srgbClr val="002060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06CB14CD-0EA3-4E13-A235-FF27F68C739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735421"/>
            <a:ext cx="5181600" cy="43382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745C08DE-B38B-FE7F-D8EF-59B76188100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2" y="1735420"/>
            <a:ext cx="5181600" cy="433828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9FED6C04-66CC-9410-FFAB-2657A74205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28A39900-4253-772A-EE22-5F3B41C32A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B21752D1-B77D-81AD-D5DF-E38950C42F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sp>
        <p:nvSpPr>
          <p:cNvPr id="17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3DDD5727-64D6-77CD-A54C-3902E337DA48}"/>
              </a:ext>
            </a:extLst>
          </p:cNvPr>
          <p:cNvSpPr>
            <a:spLocks xmlns:a="http://schemas.openxmlformats.org/drawingml/2006/main" noGrp="1"/>
          </p:cNvSpPr>
          <p:nvPr>
            <p:ph idx="13" hasCustomPrompt="1"/>
          </p:nvPr>
        </p:nvSpPr>
        <p:spPr>
          <a:xfrm xmlns:a="http://schemas.openxmlformats.org/drawingml/2006/main">
            <a:off x="838200" y="1088972"/>
            <a:ext cx="5181600" cy="61486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부제목 </a:t>
            </a:r>
            <a:r>
              <a:t>1</a:t>
            </a:r>
            <a:endParaRPr/>
          </a:p>
        </p:txBody>
      </p:sp>
      <p:sp>
        <p:nvSpPr>
          <p:cNvPr id="18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65FEB216-38A5-9FB6-4068-2D7672110653}"/>
              </a:ext>
            </a:extLst>
          </p:cNvPr>
          <p:cNvSpPr>
            <a:spLocks xmlns:a="http://schemas.openxmlformats.org/drawingml/2006/main" noGrp="1"/>
          </p:cNvSpPr>
          <p:nvPr>
            <p:ph idx="14" hasCustomPrompt="1"/>
          </p:nvPr>
        </p:nvSpPr>
        <p:spPr>
          <a:xfrm xmlns:a="http://schemas.openxmlformats.org/drawingml/2006/main">
            <a:off x="6172202" y="1089334"/>
            <a:ext cx="5181600" cy="61486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부제목 </a:t>
            </a:r>
            <a:r>
              <a:t>2</a:t>
            </a:r>
            <a:endParaRPr/>
          </a:p>
        </p:txBody>
      </p:sp>
      <p:sp>
        <p:nvSpPr>
          <p:cNvPr id="22" name="제목 1">
            <a:extLst xmlns:a="http://schemas.openxmlformats.org/drawingml/2006/main">
              <a:ext uri="{FF2B5EF4-FFF2-40B4-BE49-F238E27FC236}">
                <a16:creationId xmlns:a16="http://schemas.microsoft.com/office/drawing/2014/main" id="{8A0DD7E9-54E0-8791-2B6E-B41D9EB993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0581" y="253038"/>
            <a:ext cx="10515600" cy="7955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206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cxnSp>
        <p:nvCxnSpPr>
          <p:cNvPr id="33" name="Google Shape;75;p15"/>
          <p:cNvCxnSpPr/>
          <p:nvPr/>
        </p:nvCxnSpPr>
        <p:spPr>
          <a:xfrm xmlns:a="http://schemas.openxmlformats.org/drawingml/2006/main">
            <a:off x="528452" y="226063"/>
            <a:ext cx="1115093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" name="Google Shape;75;p15"/>
          <p:cNvCxnSpPr/>
          <p:nvPr/>
        </p:nvCxnSpPr>
        <p:spPr>
          <a:xfrm xmlns:a="http://schemas.openxmlformats.org/drawingml/2006/main">
            <a:off x="528452" y="1048552"/>
            <a:ext cx="11150930" cy="0"/>
          </a:xfrm>
          <a:prstGeom xmlns:a="http://schemas.openxmlformats.org/drawingml/2006/main" prst="straightConnector1">
            <a:avLst/>
          </a:prstGeom>
          <a:ln xmlns:a="http://schemas.openxmlformats.org/drawingml/2006/main" w="6350" cap="flat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6.xml><?xml version="1.0" encoding="utf-8"?>
<p:sldLayout xmlns:p="http://schemas.openxmlformats.org/presentationml/2006/main" preserve="1" userDrawn="1">
  <p:cSld name="Mid-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A5DF93C6-4D04-E734-ADCE-CFAC4200EA06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sp>
        <p:nvSpPr>
          <p:cNvPr id="5" name="텍스트 개체 틀 28">
            <a:extLst xmlns:a="http://schemas.openxmlformats.org/drawingml/2006/main">
              <a:ext uri="{FF2B5EF4-FFF2-40B4-BE49-F238E27FC236}">
                <a16:creationId xmlns:a16="http://schemas.microsoft.com/office/drawing/2014/main" id="{17DAC612-2FBC-28DF-905D-FD6D481EC717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710208" y="2545150"/>
            <a:ext cx="10806645" cy="819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ct val="0"/>
              </a:spcBef>
              <a:buNone/>
              <a:defRPr sz="4000" b="1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pPr lvl="0">
              <a:spcBef>
                <a:spcPct val="0"/>
              </a:spcBef>
              <a:buNone/>
            </a:pPr>
            <a:r>
              <a:t> 간지를 입력해주세요</a:t>
            </a:r>
          </a:p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20EFCC90-7041-C766-99B9-4477587D085E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710208" y="3394496"/>
            <a:ext cx="10806645" cy="152040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228600" indent="-228600">
              <a:spcBef>
                <a:spcPts val="600"/>
              </a:spcBef>
              <a:buAutoNum type="arabicPeriod"/>
              <a:defRPr sz="22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간지의 목차를 입력해 주세요</a:t>
            </a:r>
            <a:endParaRPr/>
          </a:p>
          <a:p xmlns:a="http://schemas.openxmlformats.org/drawingml/2006/main">
            <a:pPr lvl="0">
              <a:buNone/>
            </a:pPr>
            <a:endParaRPr/>
          </a:p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CFEAE664-4AB1-7422-E713-40579EF2040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pic>
        <p:nvPicPr>
          <p:cNvPr id="9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bf2a7b0564756"/>
          <a:srcRect xmlns:a="http://schemas.openxmlformats.org/drawingml/2006/main" l="24516" t="25134" r="25806" b="3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489" y="1921804"/>
            <a:ext cx="2991210" cy="2453176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411A995-D74A-86C5-7B0A-4B8F9B3E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1421" y="2551837"/>
            <a:ext cx="7853881" cy="17543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1440" tIns="45720" rIns="91440" b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400" b="1"/>
              <a:t>Thank</a:t>
            </a:r>
            <a:r>
              <a:rPr sz="5400" b="1"/>
              <a:t> </a:t>
            </a:r>
            <a:r>
              <a:rPr sz="5400" b="1"/>
              <a:t>You</a:t>
            </a:r>
            <a:br/>
            <a:r>
              <a:rPr sz="5400" b="1">
                <a:solidFill>
                  <a:schemeClr val="tx2">
                    <a:lumMod val="75000"/>
                    <a:lumOff val="25000"/>
                  </a:schemeClr>
                </a:solidFill>
              </a:rPr>
              <a:t>FOR</a:t>
            </a:r>
            <a:r>
              <a:rPr sz="5400" b="1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sz="5400" b="1">
                <a:solidFill>
                  <a:schemeClr val="tx2">
                    <a:lumMod val="75000"/>
                    <a:lumOff val="25000"/>
                  </a:schemeClr>
                </a:solidFill>
              </a:rPr>
              <a:t>YOUR</a:t>
            </a:r>
            <a:r>
              <a:rPr sz="5400" b="1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sz="5400" b="1">
                <a:solidFill>
                  <a:schemeClr val="tx2">
                    <a:lumMod val="75000"/>
                    <a:lumOff val="25000"/>
                  </a:schemeClr>
                </a:solidFill>
              </a:rPr>
              <a:t>ATTENTION</a:t>
            </a:r>
            <a:endParaRPr sz="5400" b="1" cap="none" spc="0">
              <a:ln w="0"/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AD356A8-3980-85B1-5103-A6916B8C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16" y="4331850"/>
            <a:ext cx="2414443" cy="26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91440" tIns="45720" rIns="91440" b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1" cap="none" spc="0">
                <a:ln w="0"/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Mobile Intelligent Robotics Union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95335FF4-339E-A643-8083-4A5C8E2E8F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364857"/>
            <a:ext cx="5157787" cy="823911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14F7D054-43B8-B5CE-4A63-B1720FBA81C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229187"/>
            <a:ext cx="5157787" cy="39604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C8DE6FF3-FD0E-B4E3-963E-0E134CCA9D3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364857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내용 개체 틀 5">
            <a:extLst xmlns:a="http://schemas.openxmlformats.org/drawingml/2006/main">
              <a:ext uri="{FF2B5EF4-FFF2-40B4-BE49-F238E27FC236}">
                <a16:creationId xmlns:a16="http://schemas.microsoft.com/office/drawing/2014/main" id="{23C6D305-4569-1E14-46B7-CEADB77CCF4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229187"/>
            <a:ext cx="5183188" cy="39604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7" name="날짜 개체 틀 6">
            <a:extLst xmlns:a="http://schemas.openxmlformats.org/drawingml/2006/main">
              <a:ext uri="{FF2B5EF4-FFF2-40B4-BE49-F238E27FC236}">
                <a16:creationId xmlns:a16="http://schemas.microsoft.com/office/drawing/2014/main" id="{3425C9F5-E620-21B3-8F1F-F16E0056E1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바닥글 개체 틀 7">
            <a:extLst xmlns:a="http://schemas.openxmlformats.org/drawingml/2006/main">
              <a:ext uri="{FF2B5EF4-FFF2-40B4-BE49-F238E27FC236}">
                <a16:creationId xmlns:a16="http://schemas.microsoft.com/office/drawing/2014/main" id="{0D984C1A-7038-C6E9-26DF-7FB1D5A3B9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슬라이드 번호 개체 틀 8">
            <a:extLst xmlns:a="http://schemas.openxmlformats.org/drawingml/2006/main">
              <a:ext uri="{FF2B5EF4-FFF2-40B4-BE49-F238E27FC236}">
                <a16:creationId xmlns:a16="http://schemas.microsoft.com/office/drawing/2014/main" id="{9A96D062-B67C-C365-6E4B-603D6B1B23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sp>
        <p:nvSpPr>
          <p:cNvPr id="10" name="제목 1">
            <a:extLst xmlns:a="http://schemas.openxmlformats.org/drawingml/2006/main">
              <a:ext uri="{FF2B5EF4-FFF2-40B4-BE49-F238E27FC236}">
                <a16:creationId xmlns:a16="http://schemas.microsoft.com/office/drawing/2014/main" id="{3ABCCCF2-6AE0-F76B-BD4B-3572436FB6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0581" y="253038"/>
            <a:ext cx="10515600" cy="7955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206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cxnSp>
        <p:nvCxnSpPr>
          <p:cNvPr id="21" name="Google Shape;75;p15"/>
          <p:cNvCxnSpPr/>
          <p:nvPr/>
        </p:nvCxnSpPr>
        <p:spPr>
          <a:xfrm xmlns:a="http://schemas.openxmlformats.org/drawingml/2006/main">
            <a:off x="528452" y="226063"/>
            <a:ext cx="1115093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75;p15"/>
          <p:cNvCxnSpPr/>
          <p:nvPr/>
        </p:nvCxnSpPr>
        <p:spPr>
          <a:xfrm xmlns:a="http://schemas.openxmlformats.org/drawingml/2006/main">
            <a:off x="528452" y="1048552"/>
            <a:ext cx="11150930" cy="0"/>
          </a:xfrm>
          <a:prstGeom xmlns:a="http://schemas.openxmlformats.org/drawingml/2006/main" prst="straightConnector1">
            <a:avLst/>
          </a:prstGeom>
          <a:ln xmlns:a="http://schemas.openxmlformats.org/drawingml/2006/main" w="6350" cap="flat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9.xml><?xml version="1.0" encoding="utf-8"?>
<p:sldLayout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날짜 개체 틀 2">
            <a:extLst xmlns:a="http://schemas.openxmlformats.org/drawingml/2006/main">
              <a:ext uri="{FF2B5EF4-FFF2-40B4-BE49-F238E27FC236}">
                <a16:creationId xmlns:a16="http://schemas.microsoft.com/office/drawing/2014/main" id="{9A294AE6-790A-DD5E-F713-131ED85B14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바닥글 개체 틀 3">
            <a:extLst xmlns:a="http://schemas.openxmlformats.org/drawingml/2006/main">
              <a:ext uri="{FF2B5EF4-FFF2-40B4-BE49-F238E27FC236}">
                <a16:creationId xmlns:a16="http://schemas.microsoft.com/office/drawing/2014/main" id="{6665E44E-53DC-BD84-DB0C-34B0925A9E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27EFAB03-B7BE-4C13-E26F-AD9A854F3D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sp>
        <p:nvSpPr>
          <p:cNvPr id="6" name="제목 1">
            <a:extLst xmlns:a="http://schemas.openxmlformats.org/drawingml/2006/main">
              <a:ext uri="{FF2B5EF4-FFF2-40B4-BE49-F238E27FC236}">
                <a16:creationId xmlns:a16="http://schemas.microsoft.com/office/drawing/2014/main" id="{B7A2BD72-C145-57A5-B457-552C658B5A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0581" y="253038"/>
            <a:ext cx="10515600" cy="7955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206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cxnSp>
        <p:nvCxnSpPr>
          <p:cNvPr id="13" name="Google Shape;75;p15"/>
          <p:cNvCxnSpPr/>
          <p:nvPr/>
        </p:nvCxnSpPr>
        <p:spPr>
          <a:xfrm xmlns:a="http://schemas.openxmlformats.org/drawingml/2006/main">
            <a:off x="528452" y="226063"/>
            <a:ext cx="1115093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75;p15"/>
          <p:cNvCxnSpPr/>
          <p:nvPr/>
        </p:nvCxnSpPr>
        <p:spPr>
          <a:xfrm xmlns:a="http://schemas.openxmlformats.org/drawingml/2006/main">
            <a:off x="528452" y="1048552"/>
            <a:ext cx="11150930" cy="0"/>
          </a:xfrm>
          <a:prstGeom xmlns:a="http://schemas.openxmlformats.org/drawingml/2006/main" prst="straightConnector1">
            <a:avLst/>
          </a:prstGeom>
          <a:ln xmlns:a="http://schemas.openxmlformats.org/drawingml/2006/main" w="6350" cap="flat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10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날짜 개체 틀 1">
            <a:extLst xmlns:a="http://schemas.openxmlformats.org/drawingml/2006/main">
              <a:ext uri="{FF2B5EF4-FFF2-40B4-BE49-F238E27FC236}">
                <a16:creationId xmlns:a16="http://schemas.microsoft.com/office/drawing/2014/main" id="{3A2F3904-A4F1-887D-C776-A407EEA322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바닥글 개체 틀 2">
            <a:extLst xmlns:a="http://schemas.openxmlformats.org/drawingml/2006/main">
              <a:ext uri="{FF2B5EF4-FFF2-40B4-BE49-F238E27FC236}">
                <a16:creationId xmlns:a16="http://schemas.microsoft.com/office/drawing/2014/main" id="{109C5850-E97B-A510-DE1C-73D0C5A3EA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13C545AE-2210-BF7F-E65E-F3A4BFDF90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724400" y="639677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33BDD601-E9CB-05DB-0BBF-09A3B07A06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3EA54983-3A81-A019-614D-E7D6021C1BA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2AAC5DB8-E63A-4235-56AE-CFF5C8D7BFE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3503389D-D3B0-6D60-B926-033565C32A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FB18AFEF-52FF-AA36-164B-6E60CCAF4A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47E025E0-33EE-FDFE-231A-1FC78D6933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0F3D2C77-4DB6-BB77-6023-0868CC1DDE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84BC8E77-59E7-1089-711B-A8D07621C6D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그림을 추가하려면 아이콘을 클릭하십시오</a:t>
            </a:r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DCB6C525-A6A8-479C-5E0B-C1A80AE3F3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2D9627FA-8394-62B2-2A6D-FCCE64B273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7DEE870A-E058-A34C-ECAE-AED3A588C3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8FC5252A-A7DC-AAB5-E6BF-5F110DBCB7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제목 및 세로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41687370-665A-931A-375F-3B7810F690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075526"/>
            <a:ext cx="10515600" cy="510143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D82DF939-EBDF-C5E5-466B-0F7D2FA962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5098E2D0-02AE-5FFC-E06D-042F8CC0E0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2F80C359-C0EF-FC63-2AFB-A2E33635E8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sp>
        <p:nvSpPr>
          <p:cNvPr id="7" name="제목 1">
            <a:extLst xmlns:a="http://schemas.openxmlformats.org/drawingml/2006/main">
              <a:ext uri="{FF2B5EF4-FFF2-40B4-BE49-F238E27FC236}">
                <a16:creationId xmlns:a16="http://schemas.microsoft.com/office/drawing/2014/main" id="{17569909-0B85-D475-6E36-C27C8F6AAF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0581" y="253038"/>
            <a:ext cx="10515600" cy="7955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206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cxnSp>
        <p:nvCxnSpPr>
          <p:cNvPr id="17" name="Google Shape;75;p15"/>
          <p:cNvCxnSpPr/>
          <p:nvPr/>
        </p:nvCxnSpPr>
        <p:spPr>
          <a:xfrm xmlns:a="http://schemas.openxmlformats.org/drawingml/2006/main">
            <a:off x="528452" y="226063"/>
            <a:ext cx="1115093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75;p15"/>
          <p:cNvCxnSpPr/>
          <p:nvPr/>
        </p:nvCxnSpPr>
        <p:spPr>
          <a:xfrm xmlns:a="http://schemas.openxmlformats.org/drawingml/2006/main">
            <a:off x="528452" y="1048552"/>
            <a:ext cx="11150930" cy="0"/>
          </a:xfrm>
          <a:prstGeom xmlns:a="http://schemas.openxmlformats.org/drawingml/2006/main" prst="straightConnector1">
            <a:avLst/>
          </a:prstGeom>
          <a:ln xmlns:a="http://schemas.openxmlformats.org/drawingml/2006/main" w="6350" cap="flat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14.xml><?xml version="1.0" encoding="utf-8"?>
<p:sldLayout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세로 제목 1">
            <a:extLst xmlns:a="http://schemas.openxmlformats.org/drawingml/2006/main">
              <a:ext uri="{FF2B5EF4-FFF2-40B4-BE49-F238E27FC236}">
                <a16:creationId xmlns:a16="http://schemas.microsoft.com/office/drawing/2014/main" id="{A32FF5AD-724A-7431-24B9-7D27F919B6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55DDFC62-5B9C-46BB-D2F8-88A8972F13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22194BEA-59A0-B62C-BA80-20301EACBD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3C27F337-B7B4-B6C3-2E50-07461E6DA6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B99C6092-F93D-C895-D68F-D861679B06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bb0b7060eca64084" /><Relationship Type="http://schemas.openxmlformats.org/officeDocument/2006/relationships/image" Target="/ppt/media/image2.png" Id="Ra6f9fb4062184490" /><Relationship Type="http://schemas.openxmlformats.org/officeDocument/2006/relationships/theme" Target="/ppt/slideMasters/theme/theme2.xml" Id="Rd56a6366daa944a5" /><Relationship Type="http://schemas.openxmlformats.org/officeDocument/2006/relationships/slideLayout" Target="/ppt/slideLayouts/slideLayout1.xml" Id="Rc89f5a1e8d4f4c51" /><Relationship Type="http://schemas.openxmlformats.org/officeDocument/2006/relationships/slideLayout" Target="/ppt/slideLayouts/slideLayout2.xml" Id="Re4a6fa35714749d1" /><Relationship Type="http://schemas.openxmlformats.org/officeDocument/2006/relationships/slideLayout" Target="/ppt/slideLayouts/slideLayout3.xml" Id="R702df2776de14d2e" /><Relationship Type="http://schemas.openxmlformats.org/officeDocument/2006/relationships/slideLayout" Target="/ppt/slideLayouts/slideLayout4.xml" Id="R9c54a52759344e01" /><Relationship Type="http://schemas.openxmlformats.org/officeDocument/2006/relationships/slideLayout" Target="/ppt/slideLayouts/slideLayout5.xml" Id="R4ac29db2a5784df5" /><Relationship Type="http://schemas.openxmlformats.org/officeDocument/2006/relationships/slideLayout" Target="/ppt/slideLayouts/slideLayout6.xml" Id="Rbeb1bccecdc34381" /><Relationship Type="http://schemas.openxmlformats.org/officeDocument/2006/relationships/slideLayout" Target="/ppt/slideLayouts/slideLayout7.xml" Id="R8736337009ea4189" /><Relationship Type="http://schemas.openxmlformats.org/officeDocument/2006/relationships/slideLayout" Target="/ppt/slideLayouts/slideLayout8.xml" Id="Rb6292dfabb534e59" /><Relationship Type="http://schemas.openxmlformats.org/officeDocument/2006/relationships/slideLayout" Target="/ppt/slideLayouts/slideLayout9.xml" Id="Rfb3d73360cc7474f" /><Relationship Type="http://schemas.openxmlformats.org/officeDocument/2006/relationships/slideLayout" Target="/ppt/slideLayouts/slideLayout10.xml" Id="R2ad1f38ae51e41ea" /><Relationship Type="http://schemas.openxmlformats.org/officeDocument/2006/relationships/slideLayout" Target="/ppt/slideLayouts/slideLayout11.xml" Id="Rd0b1262a188b4eaa" /><Relationship Type="http://schemas.openxmlformats.org/officeDocument/2006/relationships/slideLayout" Target="/ppt/slideLayouts/slideLayout12.xml" Id="R4545c112bd62446d" /><Relationship Type="http://schemas.openxmlformats.org/officeDocument/2006/relationships/slideLayout" Target="/ppt/slideLayouts/slideLayout13.xml" Id="R6e7b335e70f4405c" /><Relationship Type="http://schemas.openxmlformats.org/officeDocument/2006/relationships/slideLayout" Target="/ppt/slideLayouts/slideLayout14.xml" Id="R6d1a0a24f8974ebd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>
            <a:lumMod val="95000"/>
            <a:alpha val="20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개체 틀 1">
            <a:extLst xmlns:a="http://schemas.openxmlformats.org/drawingml/2006/main">
              <a:ext uri="{FF2B5EF4-FFF2-40B4-BE49-F238E27FC236}">
                <a16:creationId xmlns:a16="http://schemas.microsoft.com/office/drawing/2014/main" id="{1C6E5807-21CE-6239-7A80-907982C5E2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223DF87C-634E-E70C-3F2C-537069B2AE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88577CB6-EBDD-3EB6-CAE4-817799F5B1A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4724400" y="639677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pic>
        <p:nvPicPr>
          <p:cNvPr id="12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b7060eca64084"/>
          <a:srcRect xmlns:a="http://schemas.openxmlformats.org/drawingml/2006/main" l="24516" t="25134" r="25806" b="3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70701" y="6097915"/>
            <a:ext cx="826902" cy="678166"/>
          </a:xfrm>
          <a:prstGeom xmlns:a="http://schemas.openxmlformats.org/drawingml/2006/main" prst="rect">
            <a:avLst/>
          </a:prstGeom>
        </p:spPr>
      </p:pic>
      <p:pic>
        <p:nvPicPr>
          <p:cNvPr id="13" name="그림 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6f9fb4062184490"/>
          <a:srcRect xmlns:a="http://schemas.openxmlformats.org/drawingml/2006/main" l="3653" t="10201" r="2883" b="10470"/>
          <a:stretch xmlns:a="http://schemas.openxmlformats.org/drawingml/2006/main"/>
        </p:blipFill>
        <p:spPr>
          <a:xfrm xmlns:a="http://schemas.openxmlformats.org/drawingml/2006/main">
            <a:off x="103023" y="6429500"/>
            <a:ext cx="1945005" cy="375286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9f5a1e8d4f4c51"/>
    <p:sldLayoutId xmlns:r="http://schemas.openxmlformats.org/officeDocument/2006/relationships" id="2147483650" r:id="Re4a6fa35714749d1"/>
    <p:sldLayoutId xmlns:r="http://schemas.openxmlformats.org/officeDocument/2006/relationships" id="2147483651" r:id="R702df2776de14d2e"/>
    <p:sldLayoutId xmlns:r="http://schemas.openxmlformats.org/officeDocument/2006/relationships" id="2147483652" r:id="R9c54a52759344e01"/>
    <p:sldLayoutId xmlns:r="http://schemas.openxmlformats.org/officeDocument/2006/relationships" id="2147483653" r:id="R4ac29db2a5784df5"/>
    <p:sldLayoutId xmlns:r="http://schemas.openxmlformats.org/officeDocument/2006/relationships" id="2147483654" r:id="Rbeb1bccecdc34381"/>
    <p:sldLayoutId xmlns:r="http://schemas.openxmlformats.org/officeDocument/2006/relationships" id="2147483655" r:id="R8736337009ea4189"/>
    <p:sldLayoutId xmlns:r="http://schemas.openxmlformats.org/officeDocument/2006/relationships" id="2147483656" r:id="Rb6292dfabb534e59"/>
    <p:sldLayoutId xmlns:r="http://schemas.openxmlformats.org/officeDocument/2006/relationships" id="2147483657" r:id="Rfb3d73360cc7474f"/>
    <p:sldLayoutId xmlns:r="http://schemas.openxmlformats.org/officeDocument/2006/relationships" id="2147483658" r:id="R2ad1f38ae51e41ea"/>
    <p:sldLayoutId xmlns:r="http://schemas.openxmlformats.org/officeDocument/2006/relationships" id="2147483659" r:id="Rd0b1262a188b4eaa"/>
    <p:sldLayoutId xmlns:r="http://schemas.openxmlformats.org/officeDocument/2006/relationships" id="2147483660" r:id="R4545c112bd62446d"/>
    <p:sldLayoutId xmlns:r="http://schemas.openxmlformats.org/officeDocument/2006/relationships" id="2147483661" r:id="R6e7b335e70f4405c"/>
    <p:sldLayoutId xmlns:r="http://schemas.openxmlformats.org/officeDocument/2006/relationships" id="2147483662" r:id="R6d1a0a24f8974ebd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00000"/>
        </a:lnSpc>
        <a:spcBef>
          <a:spcPts val="1000"/>
        </a:spcBef>
        <a:buFont typeface="Wingdings"/>
        <a:buChar char="§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10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100000"/>
        </a:lnSpc>
        <a:spcBef>
          <a:spcPts val="500"/>
        </a:spcBef>
        <a:buFont typeface="Wingdings"/>
        <a:buChar char="ü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100000"/>
        </a:lnSpc>
        <a:spcBef>
          <a:spcPts val="500"/>
        </a:spcBef>
        <a:buFont typeface="Wingdings"/>
        <a:buChar char="§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10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발표자료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1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f5c9cba1ca4b18" /><Relationship Type="http://schemas.openxmlformats.org/officeDocument/2006/relationships/image" Target="/ppt/media/image3.png" Id="Rc602b61ac6c543b3" /><Relationship Type="http://schemas.openxmlformats.org/officeDocument/2006/relationships/notesSlide" Target="/ppt/notesSlides/notesSlide1.xml" Id="R8adce4f2146a43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74c1c73c8645bb" /><Relationship Type="http://schemas.openxmlformats.org/officeDocument/2006/relationships/image" Target="/ppt/media/image4.png" Id="R40e45633461445d1" /><Relationship Type="http://schemas.openxmlformats.org/officeDocument/2006/relationships/notesSlide" Target="/ppt/notesSlides/notesSlide2.xml" Id="R333382e082254f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42f15849324931" /><Relationship Type="http://schemas.openxmlformats.org/officeDocument/2006/relationships/image" Target="/ppt/media/image5.png" Id="R9f7652c1b8904c1a" /><Relationship Type="http://schemas.openxmlformats.org/officeDocument/2006/relationships/notesSlide" Target="/ppt/notesSlides/notesSlide3.xml" Id="Ra0734a3855b743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97268f38df4979" /><Relationship Type="http://schemas.openxmlformats.org/officeDocument/2006/relationships/image" Target="/ppt/media/image6.png" Id="Ra32db191de0c4b0e" /><Relationship Type="http://schemas.openxmlformats.org/officeDocument/2006/relationships/notesSlide" Target="/ppt/notesSlides/notesSlide4.xml" Id="R7252721316d64a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82b209434d4d78" /><Relationship Type="http://schemas.openxmlformats.org/officeDocument/2006/relationships/notesSlide" Target="/ppt/notesSlides/notesSlide5.xml" Id="R84482fac2d3b4c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2d20a42bd14283" /><Relationship Type="http://schemas.openxmlformats.org/officeDocument/2006/relationships/notesSlide" Target="/ppt/notesSlides/notesSlide6.xml" Id="Rd3f64c9552574d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77a541a84a4f16" /><Relationship Type="http://schemas.openxmlformats.org/officeDocument/2006/relationships/notesSlide" Target="/ppt/notesSlides/notesSlide7.xml" Id="R37c2b4ea207d40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c0db54ced5423d" /><Relationship Type="http://schemas.openxmlformats.org/officeDocument/2006/relationships/notesSlide" Target="/ppt/notesSlides/notesSlide8.xml" Id="R7d75ea1e7b234f8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0DC965-FB63-4C8F-B18B-BB9C903B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Global Raceline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B2BD3D8-9A07-46E9-8E5C-68629761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Build Map 기본 레이스라인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6D49B37-B182-457F-929F-352ECAB2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2060"/>
            </a:solidFill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02b61ac6c543b3"/>
          <a:stretch xmlns:a="http://schemas.openxmlformats.org/drawingml/2006/main"/>
        </p:blipFill>
        <p:spPr>
          <a:xfrm xmlns:a="http://schemas.openxmlformats.org/drawingml/2006/main">
            <a:off x="571500" y="1498896"/>
            <a:ext cx="5572125" cy="415548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04A47-6878-4082-8C42-07B814AB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257300"/>
            <a:ext cx="447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6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자동 생성된 경로와 포인트별 목표 속도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3136D-2F31-45DC-823A-C721DBFC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573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324D0-42D6-428F-B98E-DBB5EC6C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66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Waypoints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340E92-4FF6-47DF-9364-639E14D7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427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96940B-1184-42E4-B999-63191726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66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Lap length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3FBB7-5677-412D-B811-7723F22D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57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42.7 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DB2B2-9979-40CA-AB4B-7CDEF48F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28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평균 속도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8E7E3-A509-490B-ABDD-B16DBB0B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19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5.30 m/s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B054E-AD66-4054-A0BD-E936A88E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속도 범위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5E093-E9EE-4339-B1C8-BBC13DFF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3.55 – 8.25 m/s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72CAF8-4983-462E-8866-6992D11B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90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계획 랩타임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FC7E38-9724-4D64-92CD-21003743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81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8.51 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CB7098-7BAC-4155-B311-F7951EAB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005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7167E2-3C92-4D40-8920-2531FD6C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76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48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5E19FE-909D-42B3-B50F-1C1BFC8B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00525"/>
            <a:ext cx="3952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점의 색은 각 waypoint의 목표 속도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8530C1-3B3D-475C-B014-4617A689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9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759705-EB77-41EF-9DE9-3772A1ED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43425"/>
            <a:ext cx="3952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선은 waypoint를 연결한 주행 경로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7D0F89-37FC-4955-B050-BF532745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197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Source: my_track0824_realFinal_iqp_max9.00ms_margin0.08m_mu1.40.csv</a:t>
            </a:r>
          </a:p>
        </p:txBody>
      </p:sp>
    </p:spTree>
    <p:extLst>
      <p:ext uri="{BB962C8B-B14F-4D97-AF65-F5344CB8AC3E}">
        <p14:creationId xmlns:p14="http://schemas.microsoft.com/office/powerpoint/2010/main" val="14482972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72B588-0629-4B9D-BC67-1717D042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Raceline Tuner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B6A4A5B-3960-4042-9332-82EC4195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대회 맵에서 라인과 포인트별 속도를 직접 확인하고 조정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893A86D-817B-4915-A4A6-E49F1045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2060"/>
            </a:solidFill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e45633461445d1"/>
          <a:srcRect xmlns:a="http://schemas.openxmlformats.org/drawingml/2006/main" l="0" t="10426" r="0" b="104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162050"/>
            <a:ext cx="11125200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5062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C9A710-1954-4AFB-B93E-7ACD547D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Raceline Tuner 최종 레이스라인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BBA1050-1D69-47DD-BBE4-C5E5E116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together.csv · 수동 튜닝된 라인과 포인트별 목표 속도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E17ADE2-42B7-4A57-ACF0-2EFA94A5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2060"/>
            </a:solidFill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7652c1b8904c1a"/>
          <a:stretch xmlns:a="http://schemas.openxmlformats.org/drawingml/2006/main"/>
        </p:blipFill>
        <p:spPr>
          <a:xfrm xmlns:a="http://schemas.openxmlformats.org/drawingml/2006/main">
            <a:off x="575786" y="1219200"/>
            <a:ext cx="5563553" cy="4714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F07D4B-E5D1-42F5-9C90-A8D1AA16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257300"/>
            <a:ext cx="447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6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튜닝 결과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CB3A0A-C693-4719-BEF7-C7C6E43E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573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9E863-138D-467D-BD68-2EDDE25A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66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Waypoints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395EB-798B-43A3-BA7D-AD4489F0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419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B7570-87B7-41D0-A8B7-2C68EE94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66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Lap length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62FDC-2BF4-4833-B546-ACF4CCDB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57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41.9 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00E27B-8DDC-4A3A-B943-87B45A77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28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평균 속도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9CD72-C0CF-4105-AC48-BBAEE348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19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5.79 m/s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3F55E-F40D-4C10-8694-24FB2216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속도 범위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254C20-4152-41FD-B54D-BA6ACD1B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3.86 – 8.74 m/s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39B2A3-B790-4845-B254-BA94CBAA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90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계획 랩타임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D1186A-DF6E-43D9-A5CA-D2995105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81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7.63 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BD50D-995F-40F5-AB20-62D95C25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005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36275B-598D-4CA0-835E-73297AFD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76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48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FC41D1-C07D-46AB-915D-CDFFAFAF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00525"/>
            <a:ext cx="3952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점의 색은 각 waypoint의 목표 속도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E2015A-239E-4EB1-8343-ADC7A877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9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04EC9F-1D79-4D24-AA3C-9D648E59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43425"/>
            <a:ext cx="3952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선은 waypoint를 연결한 주행 경로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56C2AF-D788-4D6A-985C-2221377D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197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Source: together.csv</a:t>
            </a:r>
          </a:p>
        </p:txBody>
      </p:sp>
    </p:spTree>
    <p:extLst>
      <p:ext uri="{BB962C8B-B14F-4D97-AF65-F5344CB8AC3E}">
        <p14:creationId xmlns:p14="http://schemas.microsoft.com/office/powerpoint/2010/main" val="13871101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F753E7-521A-4F5D-BDB9-794E900E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기본 Build Map vs Raceline Tuner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A84BF79-29FA-476E-B831-E851FC42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동일한 대회 맵에서 경로 형상과 계획 성능 비교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EAD9AE5-E0B4-408D-B22F-2DE2B4E8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2060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db191de0c4b0e"/>
          <a:stretch xmlns:a="http://schemas.openxmlformats.org/drawingml/2006/main"/>
        </p:blipFill>
        <p:spPr>
          <a:xfrm xmlns:a="http://schemas.openxmlformats.org/drawingml/2006/main">
            <a:off x="1076122" y="1219200"/>
            <a:ext cx="46105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430AC-B23B-4DD9-AF0E-2F35B2C0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573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라인 비교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21483-5E50-49BD-B6D3-3257FC38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667500" y="18859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559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1B7BA-E153-44BA-9146-C6A94B6A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430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Map 기본 라인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E1C275-E825-4C7E-BB12-C3F7EFDE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97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42.7 m · 8.51 s · 평균 5.30 m/s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0C72EA-A2B1-4DA1-B4C3-D76B225A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667500" y="25527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4B4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62DDC1-B1D9-4DCC-81A6-347B9114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098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Raceline Tuner 라인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0E3D1-E36B-405B-A577-BB8F2466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765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41.9 m · 7.63 s · 평균 5.79 m/s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FABAD-447F-48EF-9773-399D25C0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2079C-EFEA-40D6-B1B4-92FA3181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242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튜닝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18359A-FB79-447D-B6E7-F48AB030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338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계획 랩타임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E81B28-54E5-4B80-B83B-A9892D3D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24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4B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94B45"/>
                </a:solidFill>
                <a:latin typeface="Arial"/>
                <a:ea typeface="Arial"/>
                <a:cs typeface="Arial"/>
              </a:rPr>
              <a:t>−0.88 s  (−10.3%)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BA33FC-8512-4B3A-8D51-93D4E523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338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평균 목표 속도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B14325-C1C9-43AA-B1AA-4DC564FE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24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+0.49 m/s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ECAC62-2BDA-482B-9294-0A36F556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주행 경로 길이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6FD78D-7377-402E-B20F-90D84E5F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43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−0.8 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C21431-650A-4E03-AC23-D06F4333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76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겹치는 구간은 빨간 튜너 라인 아래 표시됩니다.</a:t>
            </a:r>
          </a:p>
        </p:txBody>
      </p:sp>
    </p:spTree>
    <p:extLst>
      <p:ext uri="{BB962C8B-B14F-4D97-AF65-F5344CB8AC3E}">
        <p14:creationId xmlns:p14="http://schemas.microsoft.com/office/powerpoint/2010/main" val="175819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D7FBCD-4CE0-4154-887D-D2643241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Local Raceline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F19973D-E68B-4368-A25F-42D050AF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3-Tier 장애물 회피 로직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6883893-0FA0-4BE0-8B3D-CF78B95B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ED78A-CA4B-41CB-B08A-5BEA1E43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71575"/>
            <a:ext cx="110871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6D8A5-BB84-451C-BCD3-55A6175E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239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ObstacleArray + Frenet odom + Global waypoints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89ED9-B871-4C3B-B5A4-6A8D0AEC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171950" y="152400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559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227A2-9DB7-4718-BB7E-972EF72E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381125"/>
            <a:ext cx="1238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전방 12 m 필터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21E45-540C-4965-A4A9-60607812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477000" y="1524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559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E580C-AB1C-420C-9D77-6B82EE32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381125"/>
            <a:ext cx="1333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정적 / 동적 분류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7A9618-C477-4124-B329-D16137F7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2858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정적 장애물은 Tier 1 → 2 →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3FCD2-F720-4879-A9EC-25DDD4F8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5240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동적 상대차는 종방향 Following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CE6992-BBD5-4DAA-8D76-2AC6D906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3371850" cy="3667125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DEE547-3411-40EC-914E-434FA4FC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95525"/>
            <a:ext cx="723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TIER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471C58-90DD-4F25-A77C-82F330E0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Straight Offset Lane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271894-5DB5-4DF2-9DFA-E3E29221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295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가장 예측 가능한 직선형 회피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3E8545-FB29-4829-B7AC-91F79A5F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14700"/>
            <a:ext cx="13144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DD30B4-6520-49AC-A4CC-2323319A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733550" y="3314700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91D7C5-6448-4264-B27F-A7C975BB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743200" y="3314700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486C12-941B-422F-A4B9-96F9B6F0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34290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8E5BCE-52B3-4924-AFCF-9FEB8B90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37528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42FD35-43AE-4E7E-8E1D-2E504334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40767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ED7F36-C417-4392-BB9E-6DCF5677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44005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8FC74D-50D9-4D1A-AA54-C55128AF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143375"/>
            <a:ext cx="24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491F34-D750-41C5-98B5-17534E3D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67175"/>
            <a:ext cx="1905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091076-0162-458F-8B04-9D7DFA28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657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8F845E-19AD-48DC-BFB6-4BC75C91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162175" y="37433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E14E43-C435-4A0E-BC6F-BCBE14DD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162175" y="37433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FB0398-F783-44B8-8762-52C5CAC6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28825" y="4000500"/>
            <a:ext cx="20955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559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00A92E-3FB3-401B-BDAD-066A6CE0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28825" y="360997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559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5226E5-3625-4F9C-8758-2E03EE9D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028825" y="3429000"/>
            <a:ext cx="20955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559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9B20DA-D6C5-46B4-87C1-61681762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C187BA-DB44-4268-9E4D-7C456DD3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작은 횡이동으로 속도 유지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BB50F9-7AA6-4731-8166-5F0F99A2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61B6DC-7F2C-4FB4-9EB8-E7773079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0062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좌우 선택과 경로 고정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A2909A-70CC-4057-87F0-173F898B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62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7DB06C-4E32-494B-88B6-0511EFEC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8637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연속 장애물은 같은 hold로 통과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ABF649-E2A7-4463-B5CF-D1205590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3371850" cy="3667125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0E0AA4-363A-4AB7-ADFD-D73143C9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95525"/>
            <a:ext cx="723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TIER 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29A74E-ACCA-42C2-86EF-CFE5B2C6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57475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Free-form Spline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794E72-D557-4768-AD03-6B606E86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62275"/>
            <a:ext cx="295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Tier 1이 맞지 않을 때 곡선 재생성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DB1EE1-F074-482A-9766-3419AF08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14700"/>
            <a:ext cx="13144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D1BC55-55C6-415B-8FEB-35508A97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505450" y="3314700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391C6A-86E4-4D44-AEAD-55709F35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515100" y="3314700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2021F3-EE87-48BE-9F10-40AFC341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010275" y="34290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1C091E-4DEB-4070-8DEF-B98EA6B3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010275" y="37528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FFB634-6B3E-4A41-A7D9-17CADEF4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010275" y="40767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ADA5DF-8AE9-4746-97A0-841DC13F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010275" y="44005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DE3AF0F-A7CB-40BF-A60B-B47CC52C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43375"/>
            <a:ext cx="24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8E1B9C-8BDE-4855-BFA8-FA8018AF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067175"/>
            <a:ext cx="1905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7F88AE1-560F-4257-A222-A636280B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57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593CF7E-7BEF-4EA1-AB49-F766FB94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934075" y="37433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19375A5-02EC-49DB-9C69-F1FEE5F4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34075" y="37433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1AEC67F-68B5-4599-8CC3-67983BE8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010275" y="4029075"/>
            <a:ext cx="2667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12D51EE-B8F8-493C-862C-3528EDDA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276975" y="3733800"/>
            <a:ext cx="142875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D95DB8-F4DB-4D9D-BA50-401D407F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296025" y="3457575"/>
            <a:ext cx="123825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36B66C8-A4DC-4A91-BAF1-08C7A6E1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91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48B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B4AF665-D01D-4CF2-B01E-8B1473A1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71487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현재 위치에서 즉시 다시 시작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25BD119-D299-47CD-9BB6-D7F4F755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76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48B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1AB7161-CDF6-475D-B7DF-82F9D2E9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00062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선택한 한쪽에 절점 배치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0B6384B-7740-4A42-B974-76C960A3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362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48B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F457C3C-1118-4524-B96A-622A1DFE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28637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벽·차체·시간 충돌검사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0F3665C-486C-48A1-B0FC-AF9D2A75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371850" cy="3667125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D17567C-AEBF-4C68-9D58-F1BB964B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95525"/>
            <a:ext cx="723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D8B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D8B24"/>
                </a:solidFill>
                <a:latin typeface="Arial"/>
                <a:ea typeface="Arial"/>
                <a:cs typeface="Arial"/>
              </a:rPr>
              <a:t>TIER 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48626AE-4DB5-485F-AE37-617D6CA2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57475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Emergency Escape Arc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739CEB5-27CC-44C5-871F-47AC1820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62275"/>
            <a:ext cx="295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복귀보다 충돌 회피가 우선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0347FBD-E9F1-4F28-90C1-2578ED23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14700"/>
            <a:ext cx="13144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3473B47-9600-4832-A073-3398BC3D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277350" y="3314700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68A2A64-B187-4A3B-9ED7-99644690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0287000" y="3314700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7DAEEE4-1ABA-4129-B366-299F2C40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782175" y="34290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AB7BDB4-99C2-4AC7-AEEB-09760531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782175" y="37528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A1E865B-204C-4EBA-AF17-DEC5F2DA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782175" y="40767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B249865-1E9F-41FC-8037-484EF42C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782175" y="44005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8AC07CC-EF45-4C78-B45D-BADA1447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43375"/>
            <a:ext cx="24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8D428DD-E22E-4D97-B642-00B47A26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067175"/>
            <a:ext cx="1905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D128221-8687-49E8-AF48-839799EC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57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2261829-765C-4C1C-98A5-99875C6A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705975" y="37433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FE082C1-623F-4562-B12C-9CBE6F78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705975" y="37433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0F1350A-D1F8-4823-B9BD-E762013B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782175" y="3971925"/>
            <a:ext cx="123825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D8B24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248C476-1777-44AC-89E3-2BDB0182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906000" y="3714750"/>
            <a:ext cx="238125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D8B24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D3F1855-89E1-4F9D-A11D-6F56B543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144125" y="3381375"/>
            <a:ext cx="11430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D8B24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58064EE-518B-4353-99A7-DC0FC741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91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8B24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13FE502-7022-43F4-8CEF-9FF626BA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71487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한쪽 원호로 먼저 이탈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7BB412A-9D90-49F0-8233-4065C46D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76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8B24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22E3F34-4CD4-43F0-906B-D3AA4733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00062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차량 한계 안의 최대 안전곡률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65A427C-DEDC-4CE1-ACF8-F833FE16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362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8B24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99829CA-40C7-47B4-9ACD-D8B7752E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28637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불가능하면 감속·제동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87D171A-C7BF-4CA1-992E-AB3DFB4A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87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9509070-17B1-46C8-89F6-AE91B450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공통 안전 게이트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977018D-40C7-46B5-9E37-FF62D3B7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98170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차체 크기 + 인지 위치 오차 여유 + 트랙 경계 + 조향 한계 + 경로 도착시각 충돌검사</a:t>
            </a:r>
          </a:p>
        </p:txBody>
      </p:sp>
    </p:spTree>
    <p:extLst>
      <p:ext uri="{BB962C8B-B14F-4D97-AF65-F5344CB8AC3E}">
        <p14:creationId xmlns:p14="http://schemas.microsoft.com/office/powerpoint/2010/main" val="54059031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460BA8-EADB-4CF6-8676-A1B1239C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Tier 1 · 직선형 Offset Lane 회피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42BAC22-4F21-4AA1-865D-B8B9E0A8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곡선 경로를 새로 최적화하지 않고 정해진 평행 레인으로 이동·유지·복귀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049CAC4-DCEE-4AD7-9421-4D2C9DED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E82BD-3AD6-4235-8EF4-2D520D4F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533400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26160-99E1-4AEF-948E-864EFF7C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작은 횡이동의 직선형 회피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8423B-D8BC-4255-A93A-9C259101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필요한 만큼만 옆으로 이동해 직진성과 속도를 유지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4D0BB-CE7D-47C4-ACF4-AECAF85F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095500"/>
            <a:ext cx="2571750" cy="2714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43BA9-3D5A-45E0-ADE9-C6507A3E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943100" y="2095500"/>
            <a:ext cx="0" cy="2714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C6AB9-A223-4E49-B2FA-A0567D21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210050" y="2095500"/>
            <a:ext cx="0" cy="2714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AC6AB-0119-45DB-8062-63BAFECB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76575" y="22098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E54B5-045C-48B7-BD91-F8A61868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76575" y="25336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F4A305-A61F-4502-8917-4A690967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76575" y="28575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ACF01-9005-4123-911E-E6806323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76575" y="31813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B0DE5-B60E-4738-BFCD-2435F8CD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76575" y="35052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34FA34-BE00-4765-9988-3EBCCBE4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76575" y="38290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4B074D-2A5D-4191-B594-CE490786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76575" y="41529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15F24E-A970-4D85-9FB4-E7A00B45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76575" y="44767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D8A2DA-6C0E-47C2-9225-4682BB68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14825"/>
            <a:ext cx="24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93884F-AA07-4E34-8A8D-4B6E5E00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238625"/>
            <a:ext cx="1905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971E49-F2E9-415E-8641-AFFEC6D3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7815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Ego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F3F34B-1F55-4511-9FFA-61851212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0992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1E7B96-D89D-41FC-A763-CF890104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00375" y="3295650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35CFF8-E975-4C92-9EC4-541A795C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000375" y="3295650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C84A4E-A127-4020-96FD-02735E5C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479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71C140-7655-48A7-B293-2B3063EB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00375" y="273367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794A6C-F8E5-4774-B848-D41555C4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000375" y="273367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1FB50A-2BA9-4828-BBF9-5A864188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714625" y="4000500"/>
            <a:ext cx="36195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559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771FD5-97EE-4EBC-9248-359C5EA5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714625" y="3095625"/>
            <a:ext cx="0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559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4CB3AB-FE92-4FEA-997F-5E66B47F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714625" y="2476500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559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E3A5E9-C04A-4DB7-B9AD-5CC541B6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714625" y="2190750"/>
            <a:ext cx="36195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559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A0F048-3760-4213-A0D0-9AC334E7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714625" y="3000375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6948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4C03B0-BC63-4729-887E-01559E3F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짧은 진입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7C45D2-09DB-4951-826E-96E72A86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직선 HOLD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2FFE87-EB1A-4C8F-A8B6-F850EB1E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완만한 복귀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035812-5506-4CF4-8317-E113502A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552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핵심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484BE9-F2CC-4D4A-A978-72B56FCD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101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횡이동을 작게 유지해 회피 중 직진성과 속도 손실을 줄임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67ADA3-3E72-4E8B-8CF8-FE9FC2C4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625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연속 장애물은 같은 d_hold로 묶어 중간 복귀 없이 통과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B5E6A0-6C40-4138-9EE0-3F112F3D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진입·복귀 가능성도 비슷하면 조향 연속성을 우선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A07D2A-114E-4FED-84B9-FEC8ED9E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200150"/>
            <a:ext cx="552450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7008FB-9DF3-4F6E-A04D-9B2F56CA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716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좌·우 선택과 판단 고정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BE8671-2959-4C4D-B6A8-513FA964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240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F3956D-33E0-4941-BAC7-8C8981AF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240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067536-1293-4A88-9C28-B551A2AE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905000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먼저 통과 가능한가?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AD7963-43C8-4F4D-B50C-5EBFF645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219325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좌·우 벽 여유와 장애물 간격을 비교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BA31A3-D133-46CD-95E7-C12AF2A3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0510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2D9644-5A1A-431D-92CF-4A7C993D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0512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CF9071-A1C3-4BBF-8FD7-5CAF3A7D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051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80F5943-4275-4298-9B23-0ABF2F78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88607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둘 다 가능하면 작은 이동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974EBA-F00D-4A34-8484-BE8F7C91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20040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레이스라인에서 덜 벗어나는 d_apex 방향 선택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37BDFE4-0281-461F-B05F-D59D220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86175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36528F4-BAC9-4840-B426-46ABB2E7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8620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D79E09-F732-4DC0-976C-0C9D3913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862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B8343BB-A723-463A-80EF-0F859A33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67150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판단이 비슷하면 방향 유지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BE91C93-3969-4FB9-9097-34B5251E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181475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반대쪽 최악 여유가 0.10 m 이상 좋을 때만 전환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69F07CB-C131-44C0-931F-5692829B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6725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68B67DB-ECD5-4883-BE62-B59580C8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6727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3B0979D-E263-45C7-8DC8-3D173F79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6727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D8B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8B2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59DE63-D481-4436-9CB4-90401732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848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회피라인을 Geometry Commit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42C58B0-74B8-4107-A5F7-DB5623B4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16255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안정 관측 7회 뒤 경로를 고정하고 속도만 갱신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0F3DE22-C559-4D6E-BE10-59AAB380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638800"/>
            <a:ext cx="485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E8F7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07ADAFB-28F2-4F64-A75C-446E5650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57850"/>
            <a:ext cx="462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센서가 흔들려도 선택한 직선 회피라인을 끝까지 추종</a:t>
            </a:r>
          </a:p>
        </p:txBody>
      </p:sp>
    </p:spTree>
    <p:extLst>
      <p:ext uri="{BB962C8B-B14F-4D97-AF65-F5344CB8AC3E}">
        <p14:creationId xmlns:p14="http://schemas.microsoft.com/office/powerpoint/2010/main" val="4601145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13FF40-287A-4F89-A038-384E37B4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Tier 2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FBEF19E-5E0F-4E2B-8CFD-691CDD77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이미 장애물과 가까워진 상태에서 빠르게 새로운 회피라인 생성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E4B8FD-2B51-4008-8ED1-89D2F08D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1E4039-BDFC-4524-8D1C-192CBE46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33718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3E4C4-50D8-40A8-B027-62DDD0FD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89609-05A1-4021-92AA-6F291D14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620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12 m 안 장애물 인지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1102F-85EC-41E2-9587-6300CF02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3028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정적 후보만 회피 대상으로 전달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73C93-2BF3-45CC-A64C-EB8A3491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266950"/>
            <a:ext cx="12763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4243E2-275E-4A12-B681-0EF54F91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752600" y="226695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A749A9-8426-4AF5-9744-70F66F89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724150" y="226695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89E5B-8B79-485F-8938-CE89101C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23812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1850DF-CBDE-4FEA-AA22-53363C6A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27051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47036-C0D3-449C-9FC2-B10AA449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30289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1598E1-F5F8-4ECF-B6E5-41F72B31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14625"/>
            <a:ext cx="24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451006-61D2-4E1A-A6AF-DFE924F8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638425"/>
            <a:ext cx="1905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2ECCE-47E1-44BB-B68F-0254EFAE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286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4C10FA-4D65-4F3A-B364-DE92BEDC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162175" y="23717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98ADE3-04B1-4449-A770-D967EEA0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162175" y="23717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D00443-BCEA-451C-B028-7ACDA1BF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238500" y="23622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559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399CB1-B76B-4BD4-B049-61C409DC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431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전방 거리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330CD3-E125-4CF0-A628-3D0E92E4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238250"/>
            <a:ext cx="33718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C2B452-D929-43A3-AAE4-D0A22AFA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90650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E145CC-3BA9-4A66-94A8-2974E540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620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Tier 1 직선 레인 먼저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1ED698-CCCF-4C9F-A677-DF75BE3B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43075"/>
            <a:ext cx="3028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좌·우 일정 d_hold 후보를 모두 안전검사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DC4189-5F61-4D58-9AF7-E52CBC26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66950"/>
            <a:ext cx="12763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40B09F-04E9-41B1-B638-A7E6EE00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448300" y="226695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6F0C73-D7FB-4C03-B2EC-2CA4C300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419850" y="226695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C5A58E-1BDE-4444-A5E1-A470CFD9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934075" y="23812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E3D6EB-D545-4143-90EF-4F1CE46D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934075" y="27051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42C15C-499F-4278-B47A-FD73A668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934075" y="30289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90CA62-5BA8-4E2E-9658-77CB4D22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57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6D61D3-16F7-4B9E-AD6E-677545B3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857875" y="254317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1B278A-3487-4EF7-B0F9-C44E35E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857875" y="254317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792A32-EE82-4BD1-AEE0-58AB8B87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638800" y="2724150"/>
            <a:ext cx="13335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4B45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B72AF5-0BC6-476F-8A91-613A518F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72150" y="2381250"/>
            <a:ext cx="1619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4B4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D1A5E2-F629-4A01-8F60-624DB1FA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096000" y="2724150"/>
            <a:ext cx="13335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4B4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9257F6-E235-4FB7-8D53-B60CD272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934075" y="2381250"/>
            <a:ext cx="1619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4B4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DEA549-DC16-42CC-B695-61C254E3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238250"/>
            <a:ext cx="33718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5D41A1-F5CB-4D53-B5AA-340BB834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390650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72D1A9-E40E-462E-83B3-3EC52FE8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3620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현재 차량 위치에서 다시 시작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C65384-72DF-478E-9CEB-CD2CAC9F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43075"/>
            <a:ext cx="3028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지나간 절점은 버리고 현재 s,d를 첫 점으로 삽입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5D6F21-39CD-4986-AAA4-6698D89D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95550"/>
            <a:ext cx="24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F686F3-6622-4CE7-B839-215E69DB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19350"/>
            <a:ext cx="1905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656185-59C6-4C9C-A5E7-393FAC13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552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EBE2CF2-0E14-40B6-98B8-0B86DF5B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0534650" y="26384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E877A06-A718-4D11-B0CA-F0C29BE3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534650" y="26384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B2F695-EA0A-4408-8FDD-91193002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105900" y="2714625"/>
            <a:ext cx="129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2060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079214-1D91-47D0-837C-5413AD14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324975" y="3048000"/>
            <a:ext cx="1076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64A2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8321088-BAC3-4EE8-A32E-E854829A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48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남은 진입 거리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D9F297-EF2F-41A2-902A-A36C435B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33718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EB06E6-DCD9-4AD6-A099-A66EE109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CEA74F-6E2B-493E-A1DD-207C6090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9095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왼쪽 또는 오른쪽 한쪽 선택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01FE367-1615-438B-B163-D252DEF9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3028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두 점은 서로 다른 쪽이 아니라 같은 선택 측에 배치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6E3FD65-B19C-4404-B53B-FC10F688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95825"/>
            <a:ext cx="12763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F71FCC0-676F-43E9-96AF-7EFB06E2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752600" y="4695825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190876E-BDFA-4D30-B43D-6651C573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724150" y="4695825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813E195-C6BB-440E-80FC-04247CCC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481012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159093A-C5DE-4A7A-992D-D80A932D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513397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EAE8A1A-B79B-482B-8E85-E8150EBF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5457825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96CC9A3-4F7B-4DDE-973E-D51BA05B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8632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85DF28F-8156-4A43-AC5F-58B54209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162175" y="4972050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2474100-4DBC-4B60-8C2E-FFA668D7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162175" y="4972050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A246A68-3A28-45A3-A5F7-D0BE1D31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86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A6CF2DB-5542-498F-B3DE-2FAC3D71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38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A8AD01C-675A-421D-88DC-A004E4F7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933950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같은 쪽 apex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12A9366-25DE-49A9-99F7-98351E7C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67125"/>
            <a:ext cx="33718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6F72F00-868A-46F4-839E-6981F495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19525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D8B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D8B2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7E9213F-D61F-4C26-9164-61C17C9A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남은 거리에 맞춰 곡선 생성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DECC772-760F-440B-9DD4-FCE7CA43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71950"/>
            <a:ext cx="3028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앞 3점 + apex 2점 + 뒤 3점을 자연스럽게 연결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CD05945-EEB5-4E77-A2E7-AAA7BA06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581525" y="5286375"/>
            <a:ext cx="52387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223DC50-93D7-4D90-84B6-76C26BE7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105400" y="4953000"/>
            <a:ext cx="52387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0BE20FC-8306-489A-892B-380B536E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629275" y="4600575"/>
            <a:ext cx="428625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681897A-7A7D-4026-BD21-A32CBD02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057900" y="460057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6F91B12-3E4D-472A-BE13-4CA783FB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515100" y="4600575"/>
            <a:ext cx="447675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00E7081-8406-48EA-BC14-19DC96C0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962775" y="4953000"/>
            <a:ext cx="42862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59735CC-65B0-4046-827E-4B8D16D7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343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064A2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EE3899B-130C-4158-AC6B-33B08ECC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248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064A2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BD8F4F7-986C-4D89-B211-54465A93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914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064A2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8EC7978-6A31-4F05-87CF-2C7177C9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62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064A2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EF3624E-86A1-440F-B82C-2061133D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62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064A2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F182CAF-17DF-4FF7-A077-46AA1192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914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064A2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E5F1DDC-DED0-46D8-8338-D10D33E4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295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064A2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8C5B49F-B4AD-4B9D-8234-228C3203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67125"/>
            <a:ext cx="33718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6E578DB-79A5-4D89-ACE3-84068BFE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19525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4B4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4B4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7FBB99E-1953-43E7-BB6C-AD65CF15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9095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완성 경로 검증 후 채택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1159034-C387-45FA-A230-ABEA2EF0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71950"/>
            <a:ext cx="3028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벽·차체·도착시간·조향 한계를 모두 통과할 때 발행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BFA1AFA-BA30-496C-9D97-596D5A32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57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FD26E96-F360-4A9E-AA71-343E9CB5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577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벽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928ADE1-F92C-46A3-8A69-963B27FC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8705850" y="506730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7085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4AAE376-332F-44A0-AB6A-F7D70649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57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48B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2A429BA-61E3-4542-A203-CB495EC1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577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차체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462867B-0478-4451-AC72-CDE52AEB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448800" y="506730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7085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3A0317F-4D0D-4C2E-849D-B0674B9D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57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FF5D2DF-233B-4FCB-B553-A82B46FA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577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시간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586E720-F84A-495B-8A20-AB5E1598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0191750" y="506730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7085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7D05F8C-59D2-4B36-B886-8529939C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57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8B24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E73FBF2-B793-4EFA-897B-AAEE77C1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577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조향</a:t>
            </a:r>
          </a:p>
        </p:txBody>
      </p:sp>
    </p:spTree>
    <p:extLst>
      <p:ext uri="{BB962C8B-B14F-4D97-AF65-F5344CB8AC3E}">
        <p14:creationId xmlns:p14="http://schemas.microsoft.com/office/powerpoint/2010/main" val="17869654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FF5A35-D70E-4E11-9A13-05DEF44C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Tier 3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44C58B7-65FC-43CE-A229-E40C428D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실제 사고 직전 운전자가 큰 조향으로 충돌을 피하는 행동에서 착안한 마지막 긴급 회피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3BCA80D-57DF-42E9-BBE3-D5E2D869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15D27-9529-4445-981F-FB9AD595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571500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B0E33-7AFF-49A5-800F-788070B5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복귀보다 장애물을 벗어나는 것이 먼저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1FF06-D1A9-4857-B062-5952B1C9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Tier 1·2가 요구하는 왕복 횡이동 거리가 부족할 때 사용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B3FF34-E4F4-4598-BE0D-9D9F7D3B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57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4B4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4B45"/>
                </a:solidFill>
                <a:latin typeface="Arial"/>
                <a:ea typeface="Arial"/>
                <a:cs typeface="Arial"/>
              </a:rPr>
              <a:t>Tier 1·2 시도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45A854-74DA-4F99-AEB2-EDFA5B1A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57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D8B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D8B24"/>
                </a:solidFill>
                <a:latin typeface="Arial"/>
                <a:ea typeface="Arial"/>
                <a:cs typeface="Arial"/>
              </a:rPr>
              <a:t>Tier 3 긴급 이탈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1C2A7A-2EDE-4E78-9021-7E902FE3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2000250" cy="2476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76428-D55E-484B-B118-04C46ACF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219200" y="2324100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E94AA-F6CC-4E41-8C98-AFE1598B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914650" y="2324100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417230-715E-4F2B-AAFC-546952EB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24384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E49BD0-FE5C-4BB1-936D-A13EA876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27622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A54899-1E08-4EE0-8CFD-133AE656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30861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5D7C5-3C2B-4B29-A11C-9C78C36C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34099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8BF642-9229-4D12-BF02-397263C8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37338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14D809-69C7-4EC2-B654-5AF28778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40576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A30F71-3781-4FC7-A0F5-B5FA1DE1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43815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A20843-F13F-4D17-89CE-535EECDA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47053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083B3A-65AA-4FCB-9684-E3210053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24100"/>
            <a:ext cx="2000250" cy="2476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E468C1-D648-44F2-8876-E999E671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752850" y="2324100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801AA7-C448-44CE-94E3-7982899A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448300" y="2324100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7A87E5-7234-47F2-B32A-BC967619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600575" y="24384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A0134D-07BF-47A7-B3F1-B0E98FAE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600575" y="27622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7EC798-1221-4AAD-B35B-DC1095B8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600575" y="30861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53E9BB-D966-46AA-80D5-55F5299C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600575" y="34099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E9A49B-229A-47FB-8018-1F184B8F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600575" y="37338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4256ED-6DEB-4375-8462-9F06166F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600575" y="40576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1ABD24-EAD0-40B2-8708-950EAC8B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600575" y="43815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E28FB5-0695-4935-9B53-E3D413A0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600575" y="47053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491743-5BDB-4FCD-BFD4-ED2672FF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14825"/>
            <a:ext cx="24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D31D34-006E-4B57-AD3A-33EA72CE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238625"/>
            <a:ext cx="1905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8024F8-1500-4360-9CA0-AD4FEB60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262917-12D8-43B7-8CCC-F9504AA3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990725" y="330517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23B996-655E-4997-809C-596DC02A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990725" y="330517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4FF5C4-793B-4861-9684-98A1278B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066925" y="4000500"/>
            <a:ext cx="2857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4B4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465035-3BCC-424A-8BC3-13D02A64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095500" y="3714750"/>
            <a:ext cx="26670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4B4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786F99-14BD-4454-A90B-361AD397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362200" y="3476625"/>
            <a:ext cx="1905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4B4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54EB0B-E5DA-42D5-891A-256CAE0C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09800" y="3200400"/>
            <a:ext cx="17145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4B4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A7FF74-3EF6-48BA-87F3-6582F598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2952750"/>
            <a:ext cx="142875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4B4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4CE0F5-22CA-4204-B2E0-1D19C9B3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4385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4B4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B68CD6-0436-4DF5-B357-11532939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333625" y="3476625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4B4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23D74B-90FA-4752-AF97-255CDC6F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333625" y="3476625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4B4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44797E-239C-48E4-B002-3EC79C7B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14825"/>
            <a:ext cx="24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F13691-A88C-4146-9D2A-2BA38402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238625"/>
            <a:ext cx="1905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9FE4522-3A12-422F-9DA9-6F9380BC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92BEC42-9821-47F3-8EA4-371D6570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524375" y="330517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01B91F-91B6-4470-A93E-0C1384D0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524375" y="330517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2A90B87-FEBD-4BA1-AADA-218077A3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600575" y="4000500"/>
            <a:ext cx="2857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D8B24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D501030-222C-4043-82E7-D94BA887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629150" y="3781425"/>
            <a:ext cx="17145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D8B24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E5FF37-7AB5-4CB9-996B-835FC903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800600" y="3552825"/>
            <a:ext cx="24765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D8B24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2A84C0F-9E33-4FA4-974C-2C15975A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048250" y="3286125"/>
            <a:ext cx="17145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D8B24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635D064-857D-4200-9CA3-59E29AE1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219700" y="2952750"/>
            <a:ext cx="5715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D8B24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7F017B7-4D83-4F38-81E0-6DB4A6F5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276850" y="25717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D8B24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A4B8BB2-56A6-4BBD-A3C0-39D12B5B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276850" y="25717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D8B24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05E02AF-A803-4CE1-ADB4-26C6640B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214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94B4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94B45"/>
                </a:solidFill>
                <a:latin typeface="Arial"/>
                <a:ea typeface="Arial"/>
                <a:cs typeface="Arial"/>
              </a:rPr>
              <a:t>피했다가 돌아올 거리까지 필요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2AFE122-7E32-4565-8CBC-30C27F5F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57750"/>
            <a:ext cx="2152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D8B2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D8B24"/>
                </a:solidFill>
                <a:latin typeface="Arial"/>
                <a:ea typeface="Arial"/>
                <a:cs typeface="Arial"/>
              </a:rPr>
              <a:t>복귀를 미루고 한쪽으로 먼저 이탈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FBC82B3-388B-425C-969C-7C6D5336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723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D8B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D8B24"/>
                </a:solidFill>
                <a:latin typeface="Arial"/>
                <a:ea typeface="Arial"/>
                <a:cs typeface="Arial"/>
              </a:rPr>
              <a:t>아이디어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1A9E033-A0E5-459B-BB14-7BBE5C5B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00650"/>
            <a:ext cx="433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충돌 직전에는 완벽한 차선 변경보다 즉시 장애물을 벗어나는 큰 조향이 우선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DD404C6-06FC-441F-A928-30479A26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519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실제 명령은 무조건 최대 조향이 아니라 차량이 버틸 수 있는 범위로 제한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14E50B6-3F7E-44A7-BB22-AD4E34A9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219200"/>
            <a:ext cx="514350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C33551C-F681-47CC-BB81-E3D72046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간단한 작동 순서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FD8E572-F66E-4901-BC56-870472B2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621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A987B43-EC6F-42EC-8019-DD276EB8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62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B121729-24CE-4AF2-8353-455D85BC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94310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Tier 1·2 모두 거리 부족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0B21BD5-EB39-4283-A6AA-841814E9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25742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일반적인 진입·유지·복귀 경로가 조향 기하 한계로 실패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173E2A0-8B41-4ED7-BD69-68282F6B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622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0BEC223-1CB2-431A-9267-9F76709C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A6F2D81-0D44-4DA5-898C-31AA5596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D8CC0E7-1C4C-41DB-90B7-647DAC10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3370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긴급 회피가 맞는 상황인지 확인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44D0C1D-C472-4D2C-B152-80DC8882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24802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정적 장애물, 실제 통과폭, 복귀 공간을 검사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86F944F-BDB7-46D4-91DE-741280CF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528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0CE2697-49C3-4353-8294-50CFDCB2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433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DFCB780-02F8-4E24-A29E-7AE4C189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43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D8B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8B2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8071015-BFA1-42D1-8BC6-A8F684C1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92430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한쪽 원호로 먼저 이탈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65157E1-AD14-488C-BF95-9E2A68B6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23862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조향 한계와 횡그립 중 작은 값으로 최대 안전곡률 결정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9384325-08E1-420D-BCAD-6219DCAF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434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A3127D9-4759-40E2-BED0-F2948F75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339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542C8C1-6953-485A-B7CA-D312EEDD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339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1307BBC-5FFA-488C-ABC1-2C07480D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91490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완성 경로를 다시 안전검사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793C915-7302-449E-81BF-D268D735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522922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차체·인지오차·벽·다른 장애물과 충돌하지 않을 때만 발행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D77CF4D-F095-4334-B0E0-43988295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29275"/>
            <a:ext cx="447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CE7E5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ADA1F89-E5E7-4F3B-A14E-135F1616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6483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4B4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4B45"/>
                </a:solidFill>
                <a:latin typeface="Arial"/>
                <a:ea typeface="Arial"/>
                <a:cs typeface="Arial"/>
              </a:rPr>
              <a:t>Tier 3까지 불가능하면 감속·제동으로 전환</a:t>
            </a:r>
          </a:p>
        </p:txBody>
      </p:sp>
    </p:spTree>
    <p:extLst>
      <p:ext uri="{BB962C8B-B14F-4D97-AF65-F5344CB8AC3E}">
        <p14:creationId xmlns:p14="http://schemas.microsoft.com/office/powerpoint/2010/main" val="1633594144"/>
      </p:ext>
    </p:extLst>
  </p:cSld>
</p:sld>
</file>

<file path=ppt/theme/theme1.xml><?xml version="1.0" encoding="utf-8"?>
<a:theme xmlns:a="http://schemas.openxmlformats.org/drawingml/2006/main" name="발표자료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1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2026-09-12T10:08:53.1160000Z</dcterms:created>
  <dcterms:modified xsi:type="dcterms:W3CDTF">2026-09-12T10:08:53.1160000Z</dcterms:modified>
</coreProperties>
</file>