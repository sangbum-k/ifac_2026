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d3881a9b824fd1" /><Relationship Type="http://schemas.openxmlformats.org/officeDocument/2006/relationships/extended-properties" Target="/docProps/app.xml" Id="Re495a5568eeb4f80" /><Relationship Type="http://schemas.openxmlformats.org/officeDocument/2006/relationships/officeDocument" Target="/ppt/presentation.xml" Id="R9c4c167bc27b4a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6f8b277ae44173"/>
  </p:sldMasterIdLst>
  <p:notesMasterIdLst>
    <p:notesMasterId xmlns:r="http://schemas.openxmlformats.org/officeDocument/2006/relationships" r:id="R0abea4a22e5a40f5"/>
  </p:notesMasterIdLst>
  <p:sldIdLst>
    <p:sldId xmlns:r="http://schemas.openxmlformats.org/officeDocument/2006/relationships" id="256" r:id="Ra83096e9c67f48f7"/>
    <p:sldId xmlns:r="http://schemas.openxmlformats.org/officeDocument/2006/relationships" id="257" r:id="R70829b3f37b34c25"/>
    <p:sldId xmlns:r="http://schemas.openxmlformats.org/officeDocument/2006/relationships" id="258" r:id="R2e93438c6a364414"/>
    <p:sldId xmlns:r="http://schemas.openxmlformats.org/officeDocument/2006/relationships" id="259" r:id="Rc7b20fecd05d4d8e"/>
    <p:sldId xmlns:r="http://schemas.openxmlformats.org/officeDocument/2006/relationships" id="260" r:id="R4db42adc0d694d9e"/>
    <p:sldId xmlns:r="http://schemas.openxmlformats.org/officeDocument/2006/relationships" id="261" r:id="Rb0e93364a4a547a7"/>
    <p:sldId xmlns:r="http://schemas.openxmlformats.org/officeDocument/2006/relationships" id="262" r:id="R30bba6330cdd420a"/>
    <p:sldId xmlns:r="http://schemas.openxmlformats.org/officeDocument/2006/relationships" id="263" r:id="R496c02d851f345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43b5d8c33f4ec3" /><Relationship Type="http://schemas.openxmlformats.org/officeDocument/2006/relationships/slideMaster" Target="/ppt/slideMasters/slideMaster1.xml" Id="Rec6f8b277ae44173" /><Relationship Type="http://schemas.openxmlformats.org/officeDocument/2006/relationships/notesMaster" Target="/ppt/notesMasters/notesMaster1.xml" Id="R0abea4a22e5a40f5" /><Relationship Type="http://schemas.openxmlformats.org/officeDocument/2006/relationships/presProps" Target="/ppt/presProps.xml" Id="R4561121cbf484097" /><Relationship Type="http://schemas.openxmlformats.org/officeDocument/2006/relationships/viewProps" Target="/ppt/viewProps.xml" Id="R8e9a28353eb845f1" /><Relationship Type="http://schemas.openxmlformats.org/officeDocument/2006/relationships/tableStyles" Target="/ppt/tableStyles.xml" Id="Rb893f707b5e84760" /><Relationship Type="http://schemas.openxmlformats.org/officeDocument/2006/relationships/slide" Target="/ppt/slides/slide1.xml" Id="Ra83096e9c67f48f7" /><Relationship Type="http://schemas.openxmlformats.org/officeDocument/2006/relationships/slide" Target="/ppt/slides/slide2.xml" Id="R70829b3f37b34c25" /><Relationship Type="http://schemas.openxmlformats.org/officeDocument/2006/relationships/slide" Target="/ppt/slides/slide3.xml" Id="R2e93438c6a364414" /><Relationship Type="http://schemas.openxmlformats.org/officeDocument/2006/relationships/slide" Target="/ppt/slides/slide4.xml" Id="Rc7b20fecd05d4d8e" /><Relationship Type="http://schemas.openxmlformats.org/officeDocument/2006/relationships/slide" Target="/ppt/slides/slide5.xml" Id="R4db42adc0d694d9e" /><Relationship Type="http://schemas.openxmlformats.org/officeDocument/2006/relationships/slide" Target="/ppt/slides/slide6.xml" Id="Rb0e93364a4a547a7" /><Relationship Type="http://schemas.openxmlformats.org/officeDocument/2006/relationships/slide" Target="/ppt/slides/slide7.xml" Id="R30bba6330cdd420a" /><Relationship Type="http://schemas.openxmlformats.org/officeDocument/2006/relationships/slide" Target="/ppt/slides/slide8.xml" Id="R496c02d851f345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7b1559bd3548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발표자료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2512f116d04154" /><Relationship Type="http://schemas.openxmlformats.org/officeDocument/2006/relationships/notesMaster" Target="/ppt/notesMasters/notesMaster1.xml" Id="Rcb685a224e4c49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5b43201a55425c" /><Relationship Type="http://schemas.openxmlformats.org/officeDocument/2006/relationships/notesMaster" Target="/ppt/notesMasters/notesMaster1.xml" Id="R20ee5b4d4b5c4a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5d07855b0b41f6" /><Relationship Type="http://schemas.openxmlformats.org/officeDocument/2006/relationships/notesMaster" Target="/ppt/notesMasters/notesMaster1.xml" Id="R1df7f4ce430a4b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aba244766d4767" /><Relationship Type="http://schemas.openxmlformats.org/officeDocument/2006/relationships/notesMaster" Target="/ppt/notesMasters/notesMaster1.xml" Id="R09e5b2d5ba264e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a4a7230f4146b5" /><Relationship Type="http://schemas.openxmlformats.org/officeDocument/2006/relationships/notesMaster" Target="/ppt/notesMasters/notesMaster1.xml" Id="R2a6b6157077741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f541bb678e4040" /><Relationship Type="http://schemas.openxmlformats.org/officeDocument/2006/relationships/notesMaster" Target="/ppt/notesMasters/notesMaster1.xml" Id="R04a0e31def7a4e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5fe810b08b4710" /><Relationship Type="http://schemas.openxmlformats.org/officeDocument/2006/relationships/notesMaster" Target="/ppt/notesMasters/notesMaster1.xml" Id="Rb4881327166b4b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94c37a3dda49fd" /><Relationship Type="http://schemas.openxmlformats.org/officeDocument/2006/relationships/notesMaster" Target="/ppt/notesMasters/notesMaster1.xml" Id="R26da1a75433448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680b0a35e45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7a8840de845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01e5869a142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a9f61e6f840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75ff7030349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99d55e8b2494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503f04575491c" /><Relationship Type="http://schemas.openxmlformats.org/officeDocument/2006/relationships/image" Target="/ppt/media/image.png" Id="R4759de9141844a6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2dbdba73948f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857f7126d444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00d5731e745c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60aa06b2b4e0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e095fcc564d4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ca97ad8184d1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1e00032d74577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4EE14CE-7377-5375-F0F6-A31B61FA59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340736"/>
            <a:ext cx="9144000" cy="1505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48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31C11F34-70E7-81F3-180B-8CBCD61399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4259487"/>
            <a:ext cx="9144000" cy="109091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 defTabSz="914400">
              <a:lnSpc>
                <a:spcPct val="100000"/>
              </a:lnSpc>
              <a:spcBef>
                <a:spcPts val="1000"/>
              </a:spcBef>
              <a:buFont typeface="Wingdings"/>
              <a:buNone/>
              <a:defRPr sz="1800" b="1" kern="1200">
                <a:solidFill>
                  <a:srgbClr val="002060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A6B9AA41-F330-95B9-7491-743902EA7D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3AAFEFD-318D-8CED-0B60-9C8A3EBDCC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57BD5B5-D872-277F-C6D1-30873898FB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7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C57040B6-376D-49DB-0E64-B84CD3A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3914"/>
            <a:ext cx="9144000" cy="75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solidFill>
              <a:srgbClr val="002060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" name="Google Shape;66;p14"/>
          <p:cNvCxnSpPr/>
          <p:nvPr/>
        </p:nvCxnSpPr>
        <p:spPr>
          <a:xfrm xmlns:a="http://schemas.openxmlformats.org/drawingml/2006/main">
            <a:off x="1524000" y="3891813"/>
            <a:ext cx="914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CF34B8D-7B00-C0D3-1C68-B0A5E7419C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DD384A96-BCC4-0A62-6906-AAAE50E5D2AD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084271"/>
            <a:ext cx="10515600" cy="5213518"/>
          </a:xfrm>
        </p:spPr>
        <p:txBody>
          <a:bodyPr xmlns:a="http://schemas.openxmlformats.org/drawingml/2006/main"/>
          <a:lstStyle xmlns:a="http://schemas.openxmlformats.org/drawingml/2006/main">
            <a:lvl1pPr marL="447675" indent="-447675">
              <a:lnSpc>
                <a:spcPct val="100000"/>
              </a:lnSpc>
              <a:buFont typeface="맑은 고딕"/>
              <a:buChar char="■"/>
              <a:defRPr sz="2400" b="1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marL="808038" indent="-350838">
              <a:lnSpc>
                <a:spcPct val="100000"/>
              </a:lnSpc>
              <a:buFont typeface="맑은 고딕"/>
              <a:buChar char="▶"/>
              <a:defRPr sz="20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00000"/>
              </a:lnSpc>
              <a:buFont typeface="Arial"/>
              <a:buChar char="•"/>
              <a:defRPr sz="18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sz="18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sz="16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8B1A8A2-C7CE-8526-8B2B-55F39C991E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9677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14" name="Rectangle: Diagonal Corners Snipped 13">
            <a:extLst xmlns:a="http://schemas.openxmlformats.org/drawingml/2006/main">
              <a:ext uri="{FF2B5EF4-FFF2-40B4-BE49-F238E27FC236}">
                <a16:creationId xmlns:a16="http://schemas.microsoft.com/office/drawing/2014/main" id="{32E1E129-D1D8-CEB5-B886-48059CE0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3038" cy="253038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0FAF677-AFB6-C967-B081-992A0059C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1CD12F2-6531-D905-BC98-EC37AC6B20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765FD8D-22A4-4DB2-518D-19D3A46EEF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58BF571-04FA-37A5-22FB-C115EA39B1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52AE32E-6DF7-408B-92EA-0842EC7571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1_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0FAF677-AFB6-C967-B081-992A0059C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06814" y="2323118"/>
            <a:ext cx="8340636" cy="1934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8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765FD8D-22A4-4DB2-518D-19D3A46EEF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58BF571-04FA-37A5-22FB-C115EA39B1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52AE32E-6DF7-408B-92EA-0842EC7571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7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C57040B6-376D-49DB-0E64-B84CD3A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814" y="4289309"/>
            <a:ext cx="9144000" cy="75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solidFill>
              <a:srgbClr val="002060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06CB14CD-0EA3-4E13-A235-FF27F68C73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735421"/>
            <a:ext cx="5181600" cy="43382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745C08DE-B38B-FE7F-D8EF-59B76188100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2" y="1735420"/>
            <a:ext cx="5181600" cy="433828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9FED6C04-66CC-9410-FFAB-2657A74205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28A39900-4253-772A-EE22-5F3B41C32A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B21752D1-B77D-81AD-D5DF-E38950C42F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17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3DDD5727-64D6-77CD-A54C-3902E337DA48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838200" y="1088972"/>
            <a:ext cx="5181600" cy="61486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부제목 </a:t>
            </a:r>
            <a:r>
              <a:t>1</a:t>
            </a:r>
            <a:endParaRPr/>
          </a:p>
        </p:txBody>
      </p:sp>
      <p:sp>
        <p:nvSpPr>
          <p:cNvPr id="18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65FEB216-38A5-9FB6-4068-2D7672110653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6172202" y="1089334"/>
            <a:ext cx="5181600" cy="61486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부제목 </a:t>
            </a:r>
            <a:r>
              <a:t>2</a:t>
            </a:r>
            <a:endParaRPr/>
          </a:p>
        </p:txBody>
      </p:sp>
      <p:sp>
        <p:nvSpPr>
          <p:cNvPr id="22" name="제목 1">
            <a:extLst xmlns:a="http://schemas.openxmlformats.org/drawingml/2006/main">
              <a:ext uri="{FF2B5EF4-FFF2-40B4-BE49-F238E27FC236}">
                <a16:creationId xmlns:a16="http://schemas.microsoft.com/office/drawing/2014/main" id="{8A0DD7E9-54E0-8791-2B6E-B41D9EB99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33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6.xml><?xml version="1.0" encoding="utf-8"?>
<p:sldLayout xmlns:p="http://schemas.openxmlformats.org/presentationml/2006/main" preserve="1" userDrawn="1">
  <p:cSld name="Mid-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5DF93C6-4D04-E734-ADCE-CFAC4200EA06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5" name="텍스트 개체 틀 28">
            <a:extLst xmlns:a="http://schemas.openxmlformats.org/drawingml/2006/main">
              <a:ext uri="{FF2B5EF4-FFF2-40B4-BE49-F238E27FC236}">
                <a16:creationId xmlns:a16="http://schemas.microsoft.com/office/drawing/2014/main" id="{17DAC612-2FBC-28DF-905D-FD6D481EC717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710208" y="2545150"/>
            <a:ext cx="10806645" cy="819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 lvl="0">
              <a:spcBef>
                <a:spcPct val="0"/>
              </a:spcBef>
              <a:buNone/>
            </a:pPr>
            <a:r>
              <a:t> 간지를 입력해주세요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20EFCC90-7041-C766-99B9-4477587D085E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710208" y="3394496"/>
            <a:ext cx="10806645" cy="15204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228600" indent="-228600">
              <a:spcBef>
                <a:spcPts val="600"/>
              </a:spcBef>
              <a:buAutoNum type="arabicPeriod"/>
              <a:defRPr sz="22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간지의 목차를 입력해 주세요</a:t>
            </a:r>
            <a:endParaRPr/>
          </a:p>
          <a:p xmlns:a="http://schemas.openxmlformats.org/drawingml/2006/main">
            <a:pPr lvl="0">
              <a:buNone/>
            </a:pP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CFEAE664-4AB1-7422-E713-40579EF2040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pic>
        <p:nvPicPr>
          <p:cNvPr id="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9de9141844a6e"/>
          <a:srcRect xmlns:a="http://schemas.openxmlformats.org/drawingml/2006/main" l="24516" t="25134" r="25806" b="3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489" y="1921804"/>
            <a:ext cx="2991210" cy="2453176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411A995-D74A-86C5-7B0A-4B8F9B3E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421" y="2551837"/>
            <a:ext cx="7853881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45720" rIns="91440" b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0" b="1"/>
              <a:t>Thank</a:t>
            </a:r>
            <a:r>
              <a:rPr sz="5400" b="1"/>
              <a:t> </a:t>
            </a:r>
            <a:r>
              <a:rPr sz="5400" b="1"/>
              <a:t>You</a:t>
            </a:r>
            <a:br/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FOR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YOUR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ATTENTION</a:t>
            </a:r>
            <a:endParaRPr sz="5400" b="1" cap="none" spc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AD356A8-3980-85B1-5103-A6916B8C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16" y="4331850"/>
            <a:ext cx="2414443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91440" tIns="45720" rIns="91440" b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1" cap="none" spc="0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Mobile Intelligent Robotics Union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5335FF4-339E-A643-8083-4A5C8E2E8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364857"/>
            <a:ext cx="5157787" cy="823911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14F7D054-43B8-B5CE-4A63-B1720FBA81C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229187"/>
            <a:ext cx="5157787" cy="39604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C8DE6FF3-FD0E-B4E3-963E-0E134CCA9D3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64857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23C6D305-4569-1E14-46B7-CEADB77CCF4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229187"/>
            <a:ext cx="5183188" cy="39604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3425C9F5-E620-21B3-8F1F-F16E0056E1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0D984C1A-7038-C6E9-26DF-7FB1D5A3B9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9A96D062-B67C-C365-6E4B-603D6B1B23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10" name="제목 1">
            <a:extLst xmlns:a="http://schemas.openxmlformats.org/drawingml/2006/main">
              <a:ext uri="{FF2B5EF4-FFF2-40B4-BE49-F238E27FC236}">
                <a16:creationId xmlns:a16="http://schemas.microsoft.com/office/drawing/2014/main" id="{3ABCCCF2-6AE0-F76B-BD4B-3572436FB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21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9.xml><?xml version="1.0" encoding="utf-8"?>
<p:sldLayout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9A294AE6-790A-DD5E-F713-131ED85B14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6665E44E-53DC-BD84-DB0C-34B0925A9E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27EFAB03-B7BE-4C13-E26F-AD9A854F3D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6" name="제목 1">
            <a:extLst xmlns:a="http://schemas.openxmlformats.org/drawingml/2006/main">
              <a:ext uri="{FF2B5EF4-FFF2-40B4-BE49-F238E27FC236}">
                <a16:creationId xmlns:a16="http://schemas.microsoft.com/office/drawing/2014/main" id="{B7A2BD72-C145-57A5-B457-552C658B5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13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0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3A2F3904-A4F1-887D-C776-A407EEA322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109C5850-E97B-A510-DE1C-73D0C5A3EA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13C545AE-2210-BF7F-E65E-F3A4BFDF90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9677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3BDD601-E9CB-05DB-0BBF-09A3B07A0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3EA54983-3A81-A019-614D-E7D6021C1B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2AAC5DB8-E63A-4235-56AE-CFF5C8D7BF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3503389D-D3B0-6D60-B926-033565C32A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FB18AFEF-52FF-AA36-164B-6E60CCAF4A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47E025E0-33EE-FDFE-231A-1FC78D6933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F3D2C77-4DB6-BB77-6023-0868CC1DD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84BC8E77-59E7-1089-711B-A8D07621C6D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DCB6C525-A6A8-479C-5E0B-C1A80AE3F3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2D9627FA-8394-62B2-2A6D-FCCE64B273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7DEE870A-E058-A34C-ECAE-AED3A588C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8FC5252A-A7DC-AAB5-E6BF-5F110DBCB7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1687370-665A-931A-375F-3B7810F690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075526"/>
            <a:ext cx="10515600" cy="51014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D82DF939-EBDF-C5E5-466B-0F7D2FA962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098E2D0-02AE-5FFC-E06D-042F8CC0E0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F80C359-C0EF-FC63-2AFB-A2E33635E8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7" name="제목 1">
            <a:extLst xmlns:a="http://schemas.openxmlformats.org/drawingml/2006/main">
              <a:ext uri="{FF2B5EF4-FFF2-40B4-BE49-F238E27FC236}">
                <a16:creationId xmlns:a16="http://schemas.microsoft.com/office/drawing/2014/main" id="{17569909-0B85-D475-6E36-C27C8F6AA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17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4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A32FF5AD-724A-7431-24B9-7D27F919B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5DDFC62-5B9C-46BB-D2F8-88A8972F13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2194BEA-59A0-B62C-BA80-20301EACBD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C27F337-B7B4-B6C3-2E50-07461E6DA6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99C6092-F93D-C895-D68F-D861679B06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cb8e89509634849" /><Relationship Type="http://schemas.openxmlformats.org/officeDocument/2006/relationships/image" Target="/ppt/media/image2.png" Id="R9449a58ff04e4c6e" /><Relationship Type="http://schemas.openxmlformats.org/officeDocument/2006/relationships/theme" Target="/ppt/slideMasters/theme/theme2.xml" Id="R58af2286d4b14516" /><Relationship Type="http://schemas.openxmlformats.org/officeDocument/2006/relationships/slideLayout" Target="/ppt/slideLayouts/slideLayout1.xml" Id="R3b506ba8f87e4ef3" /><Relationship Type="http://schemas.openxmlformats.org/officeDocument/2006/relationships/slideLayout" Target="/ppt/slideLayouts/slideLayout2.xml" Id="R7e3bb9744c6d409a" /><Relationship Type="http://schemas.openxmlformats.org/officeDocument/2006/relationships/slideLayout" Target="/ppt/slideLayouts/slideLayout3.xml" Id="R0d6580b4aa93466a" /><Relationship Type="http://schemas.openxmlformats.org/officeDocument/2006/relationships/slideLayout" Target="/ppt/slideLayouts/slideLayout4.xml" Id="Rd917a1eeeb024134" /><Relationship Type="http://schemas.openxmlformats.org/officeDocument/2006/relationships/slideLayout" Target="/ppt/slideLayouts/slideLayout5.xml" Id="Re3a53f144ef048a8" /><Relationship Type="http://schemas.openxmlformats.org/officeDocument/2006/relationships/slideLayout" Target="/ppt/slideLayouts/slideLayout6.xml" Id="R084412082a77419c" /><Relationship Type="http://schemas.openxmlformats.org/officeDocument/2006/relationships/slideLayout" Target="/ppt/slideLayouts/slideLayout7.xml" Id="Rd8470f4d35db4487" /><Relationship Type="http://schemas.openxmlformats.org/officeDocument/2006/relationships/slideLayout" Target="/ppt/slideLayouts/slideLayout8.xml" Id="R8f8044c2fe404f04" /><Relationship Type="http://schemas.openxmlformats.org/officeDocument/2006/relationships/slideLayout" Target="/ppt/slideLayouts/slideLayout9.xml" Id="Rf3cc81f3c26c4959" /><Relationship Type="http://schemas.openxmlformats.org/officeDocument/2006/relationships/slideLayout" Target="/ppt/slideLayouts/slideLayout10.xml" Id="R44f5a8ad54ae4cc5" /><Relationship Type="http://schemas.openxmlformats.org/officeDocument/2006/relationships/slideLayout" Target="/ppt/slideLayouts/slideLayout11.xml" Id="R0093f7a37dc24982" /><Relationship Type="http://schemas.openxmlformats.org/officeDocument/2006/relationships/slideLayout" Target="/ppt/slideLayouts/slideLayout12.xml" Id="R090477d426fa4f87" /><Relationship Type="http://schemas.openxmlformats.org/officeDocument/2006/relationships/slideLayout" Target="/ppt/slideLayouts/slideLayout13.xml" Id="Rd4901892f1744239" /><Relationship Type="http://schemas.openxmlformats.org/officeDocument/2006/relationships/slideLayout" Target="/ppt/slideLayouts/slideLayout14.xml" Id="R2e1ee1893005438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95000"/>
            <a:alpha val="2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1C6E5807-21CE-6239-7A80-907982C5E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223DF87C-634E-E70C-3F2C-537069B2AE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8577CB6-EBDD-3EB6-CAE4-817799F5B1A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9677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pic>
        <p:nvPicPr>
          <p:cNvPr id="1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8e89509634849"/>
          <a:srcRect xmlns:a="http://schemas.openxmlformats.org/drawingml/2006/main" l="24516" t="25134" r="25806" b="3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0701" y="6097915"/>
            <a:ext cx="826902" cy="678166"/>
          </a:xfrm>
          <a:prstGeom xmlns:a="http://schemas.openxmlformats.org/drawingml/2006/main" prst="rect">
            <a:avLst/>
          </a:prstGeom>
        </p:spPr>
      </p:pic>
      <p:pic>
        <p:nvPicPr>
          <p:cNvPr id="13" name="그림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49a58ff04e4c6e"/>
          <a:srcRect xmlns:a="http://schemas.openxmlformats.org/drawingml/2006/main" l="3653" t="10201" r="2883" b="10470"/>
          <a:stretch xmlns:a="http://schemas.openxmlformats.org/drawingml/2006/main"/>
        </p:blipFill>
        <p:spPr>
          <a:xfrm xmlns:a="http://schemas.openxmlformats.org/drawingml/2006/main">
            <a:off x="103023" y="6429500"/>
            <a:ext cx="1945005" cy="375286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506ba8f87e4ef3"/>
    <p:sldLayoutId xmlns:r="http://schemas.openxmlformats.org/officeDocument/2006/relationships" id="2147483650" r:id="R7e3bb9744c6d409a"/>
    <p:sldLayoutId xmlns:r="http://schemas.openxmlformats.org/officeDocument/2006/relationships" id="2147483651" r:id="R0d6580b4aa93466a"/>
    <p:sldLayoutId xmlns:r="http://schemas.openxmlformats.org/officeDocument/2006/relationships" id="2147483652" r:id="Rd917a1eeeb024134"/>
    <p:sldLayoutId xmlns:r="http://schemas.openxmlformats.org/officeDocument/2006/relationships" id="2147483653" r:id="Re3a53f144ef048a8"/>
    <p:sldLayoutId xmlns:r="http://schemas.openxmlformats.org/officeDocument/2006/relationships" id="2147483654" r:id="R084412082a77419c"/>
    <p:sldLayoutId xmlns:r="http://schemas.openxmlformats.org/officeDocument/2006/relationships" id="2147483655" r:id="Rd8470f4d35db4487"/>
    <p:sldLayoutId xmlns:r="http://schemas.openxmlformats.org/officeDocument/2006/relationships" id="2147483656" r:id="R8f8044c2fe404f04"/>
    <p:sldLayoutId xmlns:r="http://schemas.openxmlformats.org/officeDocument/2006/relationships" id="2147483657" r:id="Rf3cc81f3c26c4959"/>
    <p:sldLayoutId xmlns:r="http://schemas.openxmlformats.org/officeDocument/2006/relationships" id="2147483658" r:id="R44f5a8ad54ae4cc5"/>
    <p:sldLayoutId xmlns:r="http://schemas.openxmlformats.org/officeDocument/2006/relationships" id="2147483659" r:id="R0093f7a37dc24982"/>
    <p:sldLayoutId xmlns:r="http://schemas.openxmlformats.org/officeDocument/2006/relationships" id="2147483660" r:id="R090477d426fa4f87"/>
    <p:sldLayoutId xmlns:r="http://schemas.openxmlformats.org/officeDocument/2006/relationships" id="2147483661" r:id="Rd4901892f1744239"/>
    <p:sldLayoutId xmlns:r="http://schemas.openxmlformats.org/officeDocument/2006/relationships" id="2147483662" r:id="R2e1ee1893005438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000"/>
        </a:spcBef>
        <a:buFont typeface="Wingdings"/>
        <a:buChar char="§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00000"/>
        </a:lnSpc>
        <a:spcBef>
          <a:spcPts val="500"/>
        </a:spcBef>
        <a:buFont typeface="Wingdings"/>
        <a:buChar char="ü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00000"/>
        </a:lnSpc>
        <a:spcBef>
          <a:spcPts val="500"/>
        </a:spcBef>
        <a:buFont typeface="Wingdings"/>
        <a:buChar char="§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발표자료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fb108d334447fc" /><Relationship Type="http://schemas.openxmlformats.org/officeDocument/2006/relationships/image" Target="/ppt/media/image3.png" Id="R3da3b841543e4fee" /><Relationship Type="http://schemas.openxmlformats.org/officeDocument/2006/relationships/notesSlide" Target="/ppt/notesSlides/notesSlide1.xml" Id="Rc8b7ee064bc64d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11440b05d24955" /><Relationship Type="http://schemas.openxmlformats.org/officeDocument/2006/relationships/image" Target="/ppt/media/image4.png" Id="R8a48a43692b346e8" /><Relationship Type="http://schemas.openxmlformats.org/officeDocument/2006/relationships/notesSlide" Target="/ppt/notesSlides/notesSlide2.xml" Id="R4c218078482f4f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4caf66942d4a1b" /><Relationship Type="http://schemas.openxmlformats.org/officeDocument/2006/relationships/image" Target="/ppt/media/image5.png" Id="Ref044805803f4f0a" /><Relationship Type="http://schemas.openxmlformats.org/officeDocument/2006/relationships/notesSlide" Target="/ppt/notesSlides/notesSlide3.xml" Id="Rb501891c18284d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a2d1dc6d6748d7" /><Relationship Type="http://schemas.openxmlformats.org/officeDocument/2006/relationships/image" Target="/ppt/media/image6.png" Id="R77095c440a974397" /><Relationship Type="http://schemas.openxmlformats.org/officeDocument/2006/relationships/notesSlide" Target="/ppt/notesSlides/notesSlide4.xml" Id="Rd29aac025e2b4e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1d4e3ecd3c400a" /><Relationship Type="http://schemas.openxmlformats.org/officeDocument/2006/relationships/notesSlide" Target="/ppt/notesSlides/notesSlide5.xml" Id="Rf5fcda8e612943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6b5aaaf4014592" /><Relationship Type="http://schemas.openxmlformats.org/officeDocument/2006/relationships/notesSlide" Target="/ppt/notesSlides/notesSlide6.xml" Id="R00722f1d6bde4e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8a40a495ce473b" /><Relationship Type="http://schemas.openxmlformats.org/officeDocument/2006/relationships/notesSlide" Target="/ppt/notesSlides/notesSlide7.xml" Id="R9154e10931ec48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bae4f2d3284727" /><Relationship Type="http://schemas.openxmlformats.org/officeDocument/2006/relationships/notesSlide" Target="/ppt/notesSlides/notesSlide8.xml" Id="Rf48589bce3ac4e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EDF0CB-D71A-4E60-B391-89B7F26A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Global Raceline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0497E3-A520-4531-A4FC-FD95324F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Build Map 기본 레이스라인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9F4ACD8-2FBF-4091-8075-8FEA9481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3b841543e4fee"/>
          <a:stretch xmlns:a="http://schemas.openxmlformats.org/drawingml/2006/main"/>
        </p:blipFill>
        <p:spPr>
          <a:xfrm xmlns:a="http://schemas.openxmlformats.org/drawingml/2006/main">
            <a:off x="571500" y="1337249"/>
            <a:ext cx="4953000" cy="44787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46CAC-38CD-4908-84F6-B2FC25EC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목표 속도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ED768-2D18-4066-8D51-000EC504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955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BD2F5-D268-4A45-B9E4-3F2214D5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95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A07A3-39BD-4B8E-BFB3-45862A71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D7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42F96-F968-4EA3-A8A5-89F9E094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81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922CD-19C5-4CDD-B257-FC8A4325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670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7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9E87F-067D-49EF-BF1A-98110A07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667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5640D-A922-49CA-9A04-B8CA77B2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2BB3B-3A4C-47BE-A455-9E7C92B8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52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33C70-B6D9-4954-AA3B-2A5B28E1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88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6A12E-77A7-4FAF-A8FE-4CDFE685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38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CCCBD-5397-4063-9932-7ADED03D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425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3A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31351-F63B-4224-9B48-67315439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524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B036E-D21C-4781-820B-71A46B38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100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39141-7426-4AE1-A140-348F2B1F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10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748BE-419F-4D39-AE86-DED985A3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243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m/s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0794C-0322-42BD-B27A-E7CF422F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2573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자동 생성된 경로와 포인트별 목표 속도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085E19-D383-49AC-8167-31A500A1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1AEDF-1140-4D92-90DC-280EC6F2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Waypoints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529BC-2E6D-4101-AE01-6E11642D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427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F54A58-7F70-4D12-BF7E-92B82FF7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Lap length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B9DDD0-30BB-453D-A93D-9F3AA968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42.7 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A6BC5A-4292-4625-ABEB-68E94344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평균 속도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2EB44-1753-49ED-9E1A-5C470F87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5.30 m/s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D78166-0257-4AA8-8E10-06A208D3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속도 범위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2027B6-6E5C-4ADA-A75E-02BD08C9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3.55 – 8.25 m/s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B53336-0D1D-4CAC-AFDA-4F9E69F3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 랩타임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63A0C9-2267-45A3-B3CE-AB4919A0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8.51 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BF8611-0A89-497D-9684-5B68335A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E55F8B-69D5-4AC9-B548-09A7B4BF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D79808-D89F-4053-9DDD-27974668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005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점의 색은 각 waypoint의 목표 속도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B0F41A-D453-4DC4-8CFB-E4AB684A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381DF4-24C6-48CD-9BD0-B2C7222D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434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선은 waypoint를 연결한 주행 경로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C5DEA9-D862-4A06-B624-F3CC627F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Source: my_track0824_realFinal_iqp_max9.00ms_margin0.08m_mu1.40.csv</a:t>
            </a:r>
          </a:p>
        </p:txBody>
      </p:sp>
    </p:spTree>
    <p:extLst>
      <p:ext uri="{BB962C8B-B14F-4D97-AF65-F5344CB8AC3E}">
        <p14:creationId xmlns:p14="http://schemas.microsoft.com/office/powerpoint/2010/main" val="4500701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62CA07-7A69-48DD-98E2-CDDED4BB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Raceline Tuner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ECAE95-389B-44F0-A046-DE43D674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대회 맵에서 라인과 포인트별 속도를 직접 확인하고 조정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E6BBFAB-74EF-4215-B9D8-7B053C39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8a43692b346e8"/>
          <a:srcRect xmlns:a="http://schemas.openxmlformats.org/drawingml/2006/main" l="0" t="10426" r="0" b="104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162050"/>
            <a:ext cx="111252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468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82C99B-D6E4-49A0-A6EE-EAD18466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Raceline Tuner 최종 레이스라인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85A769D-F1A3-4A94-9C65-9FA3A026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together.csv · 수동 튜닝된 라인과 포인트별 목표 속도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C61CF75-AEB7-454D-B5D5-FBE9454F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44805803f4f0a"/>
          <a:stretch xmlns:a="http://schemas.openxmlformats.org/drawingml/2006/main"/>
        </p:blipFill>
        <p:spPr>
          <a:xfrm xmlns:a="http://schemas.openxmlformats.org/drawingml/2006/main">
            <a:off x="763473" y="1219200"/>
            <a:ext cx="4569054" cy="4714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C3223-7A63-4100-97F9-BD71460F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목표 속도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83787-5DFE-4F8B-B3E2-7D863EB8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955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BFBA6-2AEF-4262-9ED4-4D0F3FC6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95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7CBBD-4102-434B-B30C-B221B090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D7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86E8C-0F78-4ED7-8D7C-F6BC0026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81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7E609-41F0-4C2F-B5CD-10000053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670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7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ABE39-1D5E-431F-965E-B48D7788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667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0F38F-DD80-48FA-907B-96397C94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01A61-1925-43B6-AB0E-8BDB248F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52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C1DD2-E67B-4ED6-B065-ACF1516D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88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9C4DF-D30C-4662-AD3A-DE1E322E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38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EBE57-5759-4DEE-B3AE-451BE8CB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425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3A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F2870-6D7F-4611-A639-195D024E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524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540F6-689A-4433-BD23-4A908822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100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4C575F-1C3C-42B9-BDC1-1C8FAC20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10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44B38-45D0-41B5-94A4-80BC5702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243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m/s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395FA-3216-4CF9-A5C2-78F4D7D3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2573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튜닝 결과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4330F-FFDD-453B-B8D8-F00AC6C9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6F7885-4926-4F60-95A5-1F70059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Waypoints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012E9-A55F-4725-BA6C-35C46888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419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B0F2D-2B34-4A9A-AF83-CD8CBD2D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Lap length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46F29-E7B1-44FF-BD5B-5E41C78A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41.9 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C2C73A-0FB3-4E35-BFB2-2BCD30C9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평균 속도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EB0FA2-55E3-4EFB-A3BB-A048E7EF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5.79 m/s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9D010D-6D70-472A-8B0E-62701D6D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속도 범위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552A3F-6822-4638-91E9-FB82FC64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3.86 – 8.74 m/s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96224A-DA3B-4146-A2CE-CB20403B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 랩타임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38A420-BC71-48AD-9468-1FDD5DB3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7.63 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214BFC-BC55-4EAC-AC56-FEEFD2C0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F943E5-4A26-472D-AA4B-BA7B51F3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BA09F7-FD50-427E-A71F-233BDF96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005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점의 색은 각 waypoint의 목표 속도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F96B82-9088-4FD6-82EC-D0D566AE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5EAE76-547A-4AEB-A826-E9E13D00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434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선은 waypoint를 연결한 주행 경로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25F7D4-9D25-4BFC-9D06-D599FACA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Source: together.csv</a:t>
            </a:r>
          </a:p>
        </p:txBody>
      </p:sp>
    </p:spTree>
    <p:extLst>
      <p:ext uri="{BB962C8B-B14F-4D97-AF65-F5344CB8AC3E}">
        <p14:creationId xmlns:p14="http://schemas.microsoft.com/office/powerpoint/2010/main" val="17243369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6E38B9-04B7-48C3-BA5F-F4A9EB54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기본 Build Map vs Raceline Tuner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F6FB88-D072-493B-AE0A-C22482EE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동일한 대회 맵에서 경로 형상과 계획 성능 비교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8CED5F-371A-41F6-9AE2-0FD33214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95c440a974397"/>
          <a:stretch xmlns:a="http://schemas.openxmlformats.org/drawingml/2006/main"/>
        </p:blipFill>
        <p:spPr>
          <a:xfrm xmlns:a="http://schemas.openxmlformats.org/drawingml/2006/main">
            <a:off x="1076122" y="1219200"/>
            <a:ext cx="46105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26B2A-E7F5-4AB2-BAEA-D949AB5F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라인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CF657-F2F1-42DF-9934-6D76EE3E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667500" y="18859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FEB0A-323D-46AC-8F92-9BA2F74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43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Map 기본 라인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17567-A81B-49C7-9073-B0C05840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9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42.7 m · 8.51 s · 평균 5.30 m/s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E9185-B867-498B-A690-2D6E1AE2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667500" y="25527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4B4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681BA-7BFC-4F01-9C87-FDFCFE44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9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Raceline Tuner 라인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FF3AB-A59A-46F6-B148-D9308DD0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41.9 m · 7.63 s · 평균 5.79 m/s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53C88-518E-4C13-A5D7-5D8763FE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16F2E-7177-44DD-8606-E621A0F2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242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튜닝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1E113-7ABB-46A3-9351-FECEDC13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 랩타임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C0D1E-BDBF-4D1F-AB0C-371F56C4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−0.88 s  (−10.3%)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3C5F3-CC9B-41C9-AB63-F20A42EE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평균 목표 속도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68BDB-D520-4C15-827B-789B803A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+0.49 m/s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FAD22-ACD9-4E55-956A-7F8EB0EC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주행 경로 길이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95602-6AAB-4385-AB02-1CB730F8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−0.8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459E3-9D1E-461C-83C5-0FC40C5F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겹치는 구간은 빨간 튜너 라인 아래 표시됩니다.</a:t>
            </a:r>
          </a:p>
        </p:txBody>
      </p:sp>
    </p:spTree>
    <p:extLst>
      <p:ext uri="{BB962C8B-B14F-4D97-AF65-F5344CB8AC3E}">
        <p14:creationId xmlns:p14="http://schemas.microsoft.com/office/powerpoint/2010/main" val="2333489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9EB51F-D0F7-434F-8C2A-5CA30FED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Local Raceline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4B395D-7E41-48BE-B29E-322460CA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3-Tier 장애물 회피 로직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74125B6-FC22-41D5-9F57-6687BC96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40355-44C8-4529-9C33-FCB35DCC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1087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BCD73-8237-4911-BE53-50944DBE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239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ObstacleArray + Frenet odom + Global waypoints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29111-43AA-44F5-84B5-6EECACC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71950" y="15240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59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79B56-0A7F-46F8-8E7E-19746B05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전방 12 m 필터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13CE9-067E-45C0-AF3B-8B3CC7F4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77000" y="1524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59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76D13-CBCD-492A-BD72-E9305B7B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81125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정적 / 동적 분류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C2C30-0A29-4D03-9125-C38E38F5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85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정적 장애물은 Tier 1 → 2 →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7CFD2-354E-42EF-ADB6-EA63312C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240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동적 상대차는 종방향 Following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57BD2-7EA4-49E9-B60A-2A649275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371850" cy="366712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8C696-0FE3-47BF-9BC8-07DAC0D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TIER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D7938-12F4-42BB-AC84-E139E2AB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Straight Offset 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6BE8D-E896-435C-A9A7-6271BBE3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가장 예측 가능한 직선형 회피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53E7D-638F-4D03-B2CC-A0A7025D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14700"/>
            <a:ext cx="1314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5501B-3081-419A-954D-DEEB3299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3355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3686D-4C70-496D-ABDB-807D0C53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4320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613F2-7282-456F-8C47-B4EC14C6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3429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F26E5-90B4-40D4-86A2-BDA92D4D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37528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003D4E-23BA-4641-9650-9674DAE3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FD6A6D-9887-427B-8526-40BF9905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4400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CB36A-834B-4365-B213-505B0AD7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4337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0B940B-83B2-4BF3-8A42-A286AB58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6717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16710-99D9-4F0C-8A60-809EFE6E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331E94-BC17-46F2-9892-29F5E424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621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FEDD15-E6FD-4D91-A635-B060B71C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621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755142-F97A-4DD9-A608-0060C41E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28825" y="4000500"/>
            <a:ext cx="2095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002348-DCEF-4113-B3C7-5D4B6EEF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28825" y="36099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EC5206-BE3D-48D1-92E4-292E567A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28825" y="3429000"/>
            <a:ext cx="20955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6AA7D1-908A-4F2F-A2CA-09D4886A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FB01A1-BAF9-4B20-8669-BB3027D2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작은 횡이동으로 속도 유지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90348A-1528-45C6-AEC7-C89FAFF3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D0E179-34E4-412A-A434-A837868B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좌우 선택과 경로 고정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AE73AB-E9A0-49E6-A8AD-5B008BED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1DE866-8F76-440E-9F25-FA2C53A2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연속 장애물은 같은 hold로 통과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132267-AD7B-4186-AF0A-E6F0D008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371850" cy="366712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39E678-05DD-4F1C-AEED-CCB274F3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955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TIER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A44729-B4BA-4760-8FC7-C188D660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574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Free-form Spline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657F94-1396-489B-8E48-F7FC8E4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622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Tier 1이 맞지 않을 때 곡선 재생성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994910-43FA-4CCE-B5BE-0B30A68F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14700"/>
            <a:ext cx="1314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0DF774-A03E-4000-9C3E-4B01159D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50545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978FBD-1B39-4C0C-82C5-7CF40191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51510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5B2F2C-DC14-472A-889C-7BB75FF4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3429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3998B0-8B5F-4753-A833-2D36104F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37528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86CD79-000A-4F4D-9FBB-E3BFE1BB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7DD94D-2566-499F-8201-ADA2D905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4400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6EE7A3-5CEE-47D2-AAB5-79A21AFA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4337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9B58EB-DBB5-445F-B7DA-98B26D39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06717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7103A7-03E7-4DEB-87B0-90DB9B43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590A49-E962-4478-B23A-E28CC0F0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57B05D-2EFB-43AA-AE56-EB1B3FA5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340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1492B8-B2C6-43BE-8570-D6E8FECF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10275" y="4029075"/>
            <a:ext cx="2667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02930A-A568-4585-9E11-AB7E9F14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276975" y="3733800"/>
            <a:ext cx="14287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A245CE-FB2B-493D-B015-AD88795B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296025" y="3457575"/>
            <a:ext cx="12382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FF6855-1E40-41B9-AD5A-0D60D415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69AA6E-903B-4154-81B0-7744799C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7148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현재 위치에서 즉시 다시 시작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3AAA4C-DB9F-4C8E-A625-6B01F18D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AB867B-1D6B-4D6B-9DF7-9A658571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00062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선택한 한쪽에 절점 배치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7C638C-EB29-440B-B524-23BB60BB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62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5DC1FC-1D3D-418F-953E-C76B054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863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벽·차체·시간 충돌검사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9C2684-38F9-4833-924A-6F4503E9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371850" cy="366712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02E4A5-0FE6-4820-A28E-2D592EB5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955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TIER 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43172E7-9D0E-4CB0-955E-690C1139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574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Emergency Escape Arc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19ED53-6EFD-4589-88EC-ADB21305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622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복귀보다 충돌 회피가 우선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83A4A23-190B-44B8-AAF2-FAFFCD85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1314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7922A4-B857-465D-844D-B7CF26CB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27735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CC7552-18B0-46FE-A499-EBE217FE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28700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49CE56-BF66-4E1F-9F69-DD714AE4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3429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7DB60D-595D-4D6B-A9DA-AEFEE49A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37528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F4E441-9C32-43D7-B7A2-311E4794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F54102-ADBD-4B75-9046-F7598115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4400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C9C183A-23A7-4E76-9F07-EC0E03D7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4337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096478-5802-4C03-A5CE-A322D992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6717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33DAE5B-7FD5-46B7-BCEC-DCFCE1A5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BA4199-9F62-4FFB-B097-DE7D9F34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059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DD80508-0804-4BD6-91AA-CABEF1D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7059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00B4AF2-74D0-4D78-9A35-07BCA88B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782175" y="3971925"/>
            <a:ext cx="1238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D8B24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45100FD-9989-475E-B77E-45D43B51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906000" y="3714750"/>
            <a:ext cx="2381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D8B24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8EB726-8B9A-48EE-B9AC-478DFC36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44125" y="3381375"/>
            <a:ext cx="11430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D8B24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AA39128-E808-4B46-8C2C-F0716CCD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29C5EDD-31A7-40BA-BEE4-462D9733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148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한쪽 원호로 먼저 이탈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025E55F-088E-4529-9912-C3FACF98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ADD3374-B60A-46CD-893A-017F075C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00062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차량 한계 안의 최대 안전곡률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9A5F6D4-5D33-4FD7-B9F6-978F58EE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62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E09F2F-FE41-4B73-B4FC-EA6A5DA5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2863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불가능하면 감속·제동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5729169-1C12-44CC-A171-D57D07ED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33F52A4-041E-4C58-8AE8-F7A4400D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공통 안전 게이트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F51FE89-7C74-406E-918F-AE926959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8170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차체 크기 + 인지 위치 오차 여유 + 트랙 경계 + 조향 한계 + 경로 도착시각 충돌검사</a:t>
            </a:r>
          </a:p>
        </p:txBody>
      </p:sp>
    </p:spTree>
    <p:extLst>
      <p:ext uri="{BB962C8B-B14F-4D97-AF65-F5344CB8AC3E}">
        <p14:creationId xmlns:p14="http://schemas.microsoft.com/office/powerpoint/2010/main" val="11889611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627E63-19E7-4E51-8B67-30857276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Tier 1 · 직선형 Offset Lane 회피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0B9D389-93FA-43E8-8F25-0C7D1C4F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곡선 경로를 새로 최적화하지 않고 정해진 평행 레인으로 이동·유지·복귀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84885AE-BFA3-473E-91AF-EB735706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B75BE-EC50-48E5-9CFF-6E9A7D51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334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F3D2D-105F-469F-9E30-8C3BFA9F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작은 횡이동의 직선형 회피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BD5C4-16AC-497D-ADDF-E48E8C24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필요한 만큼만 옆으로 이동해 직진성과 속도를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4536D-577A-474C-A6A7-EE9AECDB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95500"/>
            <a:ext cx="2571750" cy="2714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DEC46-C720-44EC-9B80-42F04494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943100" y="2095500"/>
            <a:ext cx="0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156B1-2944-4217-B9EF-2A56BEB6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210050" y="2095500"/>
            <a:ext cx="0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1B7B6-B57D-426F-8ED1-9FEE5E42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2209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735DD-82CE-4FD5-816F-F6CB9217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2533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06B68-EF3B-4ECC-99CD-564487C5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28575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B4057-5494-4AD0-BF0F-C8CB9361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31813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DEEDC-0E42-4E54-B2F0-F893FF83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35052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B9602-F64D-47BF-BBE0-5E55C70D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38290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3409D-84D2-4EC6-A3FE-855D9CCD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4152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49A9C-24C6-45AA-A51F-4EE88A44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44767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71856-4DA2-44ED-9ACA-DCBE0B1B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148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7F843-A05D-4AC7-AED3-1BF24CC9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386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0029E-2817-46C9-A049-20489373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815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EF35D-3554-4D45-8C97-37BC0EE9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099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E99E2-EFFB-4E54-8A9C-E94DE644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00375" y="32956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65559-896A-4B25-9240-75A7D7F9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00375" y="32956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234498-C2B0-45EB-B679-756D0FA7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47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2D302-751B-4DBE-912A-8F52AC65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00375" y="27336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457176-36E2-471D-AEB0-0E934AE8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00375" y="27336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0565F-5798-4D33-A3F1-7145FCD0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4000500"/>
            <a:ext cx="3619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49CE3-511F-40DD-B9B2-9D46E0CA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3095625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342A3-2976-4F11-8BC8-34E94B8F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247650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02F99D-4A72-4A6F-A0DB-3D476E25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714625" y="2190750"/>
            <a:ext cx="3619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2FAD38-F000-4772-AD00-92F0DC2A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300037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6948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AB5C71-5A5F-42F8-8423-E594949E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짧은 진입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53A07-113A-4609-AA55-C74D1D21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직선 HOLD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8E64D-B168-422C-9491-71F4D062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완만한 복귀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3EC3BD-A35D-432C-AFB8-A536044B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핵심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AF4D2D-036F-4975-B3DC-8D7FB020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횡이동을 작게 유지해 회피 중 직진성과 속도 손실을 줄임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1BB633-FA5A-459A-860C-D15EE72F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연속 장애물은 같은 d_hold로 묶어 중간 복귀 없이 통과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F6ECAE-8277-402C-BDA1-5DFE55AC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진입·복귀 가능성도 비슷하면 조향 연속성을 우선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E6C1BA-B071-4F17-B13E-8877007B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00150"/>
            <a:ext cx="5524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959C96-509D-43BF-B589-E088759B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71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좌·우 선택과 판단 고정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2DE21F-D6A1-4901-90EE-BFD1C46D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7D9AD6-FECD-406E-8190-7A5EAFED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F6D9BC-B6FF-4232-B55C-CEFB3D65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0500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먼저 통과 가능한가?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F7BBA4-255F-48F1-B921-2D1ED065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1932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좌·우 벽 여유와 장애물 간격을 비교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CB47E6-A602-41E2-AFAB-98F170AB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703843-C386-47E7-8732-721E1323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548028-3E95-44A5-873E-5FF23D6D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EC6949-94B0-4DBE-8DC9-ECFC16D6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8607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둘 다 가능하면 작은 이동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ACF575-BEC9-407E-9695-179DC86A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004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레이스라인에서 덜 벗어나는 d_apex 방향 선택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E9572C-420F-4A61-B5A5-E20E1349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8617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A27352-6297-44F1-824D-A67F0388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42ACD0-45D2-4573-BEB5-61600841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F9EE2C-A3E3-4627-82E4-171764E0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6715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판단이 비슷하면 방향 유지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8E3CBB-F101-41FC-B5FB-165DEE87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8147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반대쪽 최악 여유가 0.10 m 이상 좋을 때만 전환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5AA414-8D52-4A50-B29A-C65C0C60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20A8C5-84E8-466A-927D-8CBA9763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672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E807BF-25BE-4718-89AA-92181BAD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672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BCA39E-5F3C-4BA3-87FE-512820DE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848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회피라인을 Geometry Commit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5FD60D-F7F8-4CE6-A659-A8F7FB24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625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안정 관측 7회 뒤 경로를 고정하고 속도만 갱신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4D71B4-81BE-479E-A2FB-7764941F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38800"/>
            <a:ext cx="485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E8F7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BA9850-DE07-4FBE-B036-7EDEFF51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5785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센서가 흔들려도 선택한 직선 회피라인을 끝까지 추종</a:t>
            </a:r>
          </a:p>
        </p:txBody>
      </p:sp>
    </p:spTree>
    <p:extLst>
      <p:ext uri="{BB962C8B-B14F-4D97-AF65-F5344CB8AC3E}">
        <p14:creationId xmlns:p14="http://schemas.microsoft.com/office/powerpoint/2010/main" val="3490142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6C6B30-212C-48DA-9BC0-E8A87763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Tier 2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BADED7D-CE6F-4F3F-BFF8-7515C14F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이미 장애물과 가까워진 상태에서 빠르게 새로운 회피라인 생성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E11C483-87BB-479C-80F1-37D62B45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99094-B115-4C46-B57A-F0456532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61FD9-5B91-47C2-9583-D597353C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CC5C2-51BA-46D3-ADB3-03CBB8D0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62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12 m 안 장애물 인지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3A37F-C9A3-44D6-8C38-B9A4DC81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정적 후보만 회피 대상으로 전달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3F84B-6C60-4774-A915-908E2BBF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66950"/>
            <a:ext cx="1276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D8041-3146-4FF9-9958-3FF592D5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5260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2E5BB-6EB2-460F-96AF-1B827915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2415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46660-B410-4227-A06B-737D7716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2381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6560D-CE1B-418A-BC1C-94E439D7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2705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DC3A2-5A43-4A23-A17A-E05BDEB5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30289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5897A-4769-4032-80A3-C9744766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146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39E10-398D-4166-A1C0-133D854B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5D6EE-44A6-4253-80C2-DD4D2C6A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86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1B560-33D6-4574-8D57-4F6BDBB0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62175" y="23717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157E6-01AC-468D-8893-DAB4FFDC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62175" y="23717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0FE1A-453D-486F-8D12-A1B687FF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238500" y="23622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59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DDEED-1247-4536-84A5-F1839BCE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431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전방 거리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FD99A-CEED-4CF5-AFDD-88DE867C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238250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2A0B4-06D8-4E8B-9979-4DA12B77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FCEEC-CBD6-42F1-A11B-C1CA9C7B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62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Tier 1 직선 레인 먼저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78D4F-5051-47C2-AE7D-0284C95F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4307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좌·우 일정 d_hold 후보를 모두 안전검사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91CD6E-B7C6-4809-9DF1-43866705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1276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C7D4BC-CDEC-479B-A574-45E6EC3E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44830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93779D-2BA9-4BA1-AA76-4202C44F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1985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370E18-9AEC-42A7-9360-00E0A6BF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2381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4E5E77-D0CA-4BF0-A0F1-1F424DAE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2705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E2B14E-D0AE-4A42-919D-F95C4A38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30289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5E553C-31C3-4345-876B-4F8138ED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57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346B88-EF08-4182-9CFE-8328C44C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857875" y="2543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7F7BF6-B877-45AF-BCEC-2436B187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857875" y="2543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1E5090-B446-42CA-AF6E-6AD40B7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638800" y="2724150"/>
            <a:ext cx="1333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B1119E-C047-4886-B8E6-FB06E4A7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72150" y="2381250"/>
            <a:ext cx="1619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2ACD33-7E94-4A48-99AA-1C5657B6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96000" y="2724150"/>
            <a:ext cx="1333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30AD13-79C4-4EF8-9204-691BBFDA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2381250"/>
            <a:ext cx="1619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E93FD6-4156-457E-B804-67D9DC90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38250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63E0BD-BF44-4758-80AA-F0DAA322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906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9DF0B8-D72A-4DE2-9ACD-CA7E4CDB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62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현재 차량 위치에서 다시 시작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4BDE20-2A39-4540-A9C9-99715792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지나간 절점은 버리고 현재 s,d를 첫 점으로 삽입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E3A5C8-2363-4501-B682-AA65BBC9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95550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AED12E-E355-4BD6-B7A1-4407D4F5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E43A1D-C4AB-4B89-A7C2-263A715F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703BE3-99C9-41FD-B887-1CB2B003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534650" y="26384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5AD998-8470-446B-8F91-F1C9EEEE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534650" y="26384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7B8926-AAB4-4CE3-9D74-A9B7A0B4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105900" y="2714625"/>
            <a:ext cx="129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206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C92C44-2DBF-41A1-82EC-8BF6C07B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324975" y="3048000"/>
            <a:ext cx="1076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64A2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05C29C-D384-4944-B831-5066B903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남은 진입 거리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A2B0B5-31D5-476E-9281-88B1F4C5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C6DD74-C058-48CF-972E-6286AFB5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81D9BF-701D-425C-8377-EBC89D39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왼쪽 또는 오른쪽 한쪽 선택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0ED0F1-5D77-4966-9552-6222F5FA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두 점은 서로 다른 쪽이 아니라 같은 선택 측에 배치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6850D0-305D-4D53-8213-C7C975AC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95825"/>
            <a:ext cx="1276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D740E9-83AC-4D6C-9363-7CF2B726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52600" y="46958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B25A65-DF70-4A65-ABEC-85091B64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24150" y="46958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9D9A64-F2F7-4BDC-8EFD-5D3DA93B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48101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130C02-0A5F-4F66-B5D8-85F1F0F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513397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BE9420-8580-44BF-AA01-AADC1FB8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545782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AE0C65-69AE-446D-8A1B-1050C98B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863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879EB9-F176-46CA-A8EF-EDFD85E5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62175" y="49720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57062B-1498-43F6-9874-03F17E5B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62175" y="49720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78C98F-DC7B-4DC9-882F-0C9C770C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86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E7EA58-2392-4B0C-A276-3594B93B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38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509A35-5FC4-43E8-8E99-75E2EB01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339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같은 쪽 apex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B0749D4-8295-4642-B5FE-40BFE0C2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67125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F2FDCB-D28D-489A-97A9-384C6D7A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952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0BDFFC-2576-49FE-A60F-3921965C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남은 거리에 맞춰 곡선 생성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959C48-6E66-469E-8D6A-412C5357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앞 3점 + apex 2점 + 뒤 3점을 자연스럽게 연결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237901D-1363-4AB3-B8CA-0869D2E5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81525" y="5286375"/>
            <a:ext cx="5238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FC7C3FA-630A-4D5C-801D-700D92A4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105400" y="4953000"/>
            <a:ext cx="5238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CE621D-0864-47DE-ACCA-7A9D79A2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629275" y="4600575"/>
            <a:ext cx="42862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57FE9E9-1BDB-43FA-8D8D-5FB7C4A0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57900" y="46005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22520EC-C069-4C7B-A170-966946AC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515100" y="4600575"/>
            <a:ext cx="44767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48B5CC-1AAC-4DF6-952E-A12DABD4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962775" y="4953000"/>
            <a:ext cx="4286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2139215-87CA-441F-9CD8-7FC3EE53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43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70B72D5-DEDA-4973-9869-220C19D0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48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379DD19-98B2-4668-BC71-25E5D223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C02DF4-0D7E-4B78-8690-5339EBC0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62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20E8116-5A0A-4D43-8B10-6BE65F24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62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0ED605-B47F-4CB8-8BB6-FE7A7342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E54BE6-09BF-496F-9864-1664FC96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7B44677-B435-426C-96AB-BD280B85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67125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C9C8BEE-A63E-4936-9CCE-BF6AE732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952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FA8AA7A-B64D-43FF-9A14-36139412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완성 경로 검증 후 채택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E7C8F28-B28B-461F-A337-0425CC66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벽·차체·도착시간·조향 한계를 모두 통과할 때 발행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622C86E-2C6C-44AD-AB7B-9B65C6E5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197BDB3-46F9-44DE-AB4B-E1FE8BF1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벽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BC9C02D-9603-4632-A3BD-3E5EF830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705850" y="50673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0AB0269-871E-42FF-8F18-7AD9B4BC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E534E60-6B62-4A4E-BCC9-323F3358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차체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51AC0F5-817D-483B-8FCE-976158F8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448800" y="50673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59E39D-6350-4265-AE39-56B7B024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D043869-487C-4191-8C5F-F14245BC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시간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596DB1C-EE25-45AA-A6BC-F7992716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191750" y="50673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BD74D82-2DCD-4EF4-864D-994C9985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B0E169-2D23-4CE5-8E35-A7B6D89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조향</a:t>
            </a:r>
          </a:p>
        </p:txBody>
      </p:sp>
    </p:spTree>
    <p:extLst>
      <p:ext uri="{BB962C8B-B14F-4D97-AF65-F5344CB8AC3E}">
        <p14:creationId xmlns:p14="http://schemas.microsoft.com/office/powerpoint/2010/main" val="17517942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F7AAE4-8C28-4ED1-8D97-83CF85C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Tier 3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EA09A7-BC29-4585-BD39-FD9D04C2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실제 사고 직전 운전자가 큰 조향으로 충돌을 피하는 행동에서 착안한 마지막 긴급 회피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243E61E-D3CB-45F5-AA23-803FA8FF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B8926-0C4B-4DBC-A06E-E582DDAC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5715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5E5AD-AD61-40FE-B630-BF216C0A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복귀보다 장애물을 벗어나는 것이 먼저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B8EB7-9CAC-4ADE-BD0D-D715F1C8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Tier 1·2가 요구하는 왕복 횡이동 거리가 부족할 때 사용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8BA37-E99F-446A-BE45-44EA60DE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Tier 1·2 시도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17694-1BB0-4E5F-BE31-080462D7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Tier 3 긴급 이탈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A9DE3-D29F-4E24-841A-1C552714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000250" cy="2476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928B9-0E61-4A43-8460-66B5E411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1920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EACFD-3E16-4286-9C97-3BD9463B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91465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C76E9-69DA-4C41-A077-FE8974BF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24384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DC25C-348D-4FC6-8E89-E006881E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2762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7EB2F-A4C6-402E-8440-BB65F16C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3086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8895C-FF27-4F61-B953-B039A223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34099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953F6-2326-4E4A-8F64-BDC242AF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3733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33EBD-A976-4D70-8F89-D213AC8E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4057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77DF0-4173-4B72-9D52-61871DF7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43815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7B80F-F7BB-48B3-A65D-5CC28D2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47053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B272C-3D9D-42CE-98F0-3FA53011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24100"/>
            <a:ext cx="2000250" cy="2476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A9E8A-9165-4B76-B79E-36FD8F62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75285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3D5FB8-1A29-44A4-A978-986487D2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44830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5CDCE-CA63-4EB1-B56F-ADC968F1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24384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C78C5-D132-44F9-9485-661FA252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2762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4E7F1-FF3E-4F0D-93F6-240C169C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3086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63EA3-6E1E-44EE-8610-B55A9F9A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34099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3D3E0C-93A4-42EE-90CD-8CC4AC46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3733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E00A6E-C5B6-4757-8884-3D3633D8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4057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5BC5C1-ADCB-4F76-A735-EBAC3693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43815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655DA-FB1F-4035-8FFD-8B9063A0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47053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692615-F42D-4E00-B664-AA4A27DD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148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7EBE06-3B8F-4CCD-8030-31CAFE0B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2386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3EAC74-6340-40CF-B2F3-B805BAC0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AC94CF-DB1E-44B0-A253-D4B7F8B8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99072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C59B82-3FFE-4A86-BFC0-CF14BA5F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99072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7FAE1D-A01D-45D3-8613-174C0E44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66925" y="4000500"/>
            <a:ext cx="285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027C1A-5C14-4895-876F-EA90DCE4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95500" y="3714750"/>
            <a:ext cx="2667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264857-C3FD-49FE-BD1F-A50EF474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62200" y="3476625"/>
            <a:ext cx="190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511A29-2FAA-4D3C-AF56-0E173BB2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09800" y="3200400"/>
            <a:ext cx="17145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A68B9A-905B-41A4-BAFB-BB25B28C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2952750"/>
            <a:ext cx="14287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033CA8-AFE2-4C73-90FB-CD4F4E44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438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4B4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DDB01E-D55D-4457-A6B4-141FA483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333625" y="34766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B4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784FF4-B8BF-49E8-9CAF-7C0A204A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33625" y="34766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B4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075415-6BE6-43C1-A177-EA1446A8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B63784-5CDA-41FB-A0EE-30A0B6B2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386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06C368-5CAD-4030-9B2B-7D9B9944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CC6CD8-0B2A-4F5D-8F6C-46BAB960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52437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F97E4D-C684-4059-988C-F7A2DF4E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2437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6C6179-9E83-476B-B429-D2B24D8B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00575" y="4000500"/>
            <a:ext cx="285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9DA8D2-B037-4751-A433-7BBC6C42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29150" y="3781425"/>
            <a:ext cx="17145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268C23-44FE-4135-8A8E-5B27FA3A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800600" y="3552825"/>
            <a:ext cx="2476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C378ED-66B1-4A7C-B930-03066134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048250" y="3286125"/>
            <a:ext cx="1714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248DFA-4362-4C01-9412-9B8B42F1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219700" y="2952750"/>
            <a:ext cx="571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CDD456-0D53-4B34-B71F-C56B146E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276850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51153D-B216-464C-AE94-EAA9A0FD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276850" y="2571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D8B24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32EA12-0472-4B50-9C3F-A88ED90C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214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피했다가 돌아올 거리까지 필요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2A34AF-EFDE-477A-8DB0-7EC69728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57750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복귀를 미루고 한쪽으로 먼저 이탈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C06CBE-E9BE-4975-AE93-D685FD78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아이디어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186A11B-3737-458F-8F44-8C46BC01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0065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충돌 직전에는 완벽한 차선 변경보다 즉시 장애물을 벗어나는 큰 조향이 우선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F73C0B-89CC-4E27-B2B4-77306D18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19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실제 명령은 무조건 최대 조향이 아니라 차량이 버틸 수 있는 범위로 제한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7B231B-CD04-4A5D-BB0E-92C3D01B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19200"/>
            <a:ext cx="5143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AB1B7B-1B4C-4C80-B8DB-765B3827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간단한 작동 순서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BC2AC0-6521-494C-B330-9C6053AA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A50F134-64F9-4741-B945-AA6A6970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593B3FA-180B-4A43-847F-57127262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431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Tier 1·2 모두 거리 부족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B6DB74-8AD9-46A4-9884-A5FD7CA0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574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일반적인 진입·유지·복귀 경로가 조향 기하 한계로 실패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4F290B-D80E-4639-90F8-2C7DE6F1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379DDDA-5151-42F1-8714-C583E401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FDD2E9-4CBC-410B-AB24-774CB206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9EE0A77-D5BC-442D-9FC6-569D7785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337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긴급 회피가 맞는 상황인지 확인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3075D8-7F5A-4AAE-876F-CF40F934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480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정적 장애물, 실제 통과폭, 복귀 공간을 검사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387F32-B5C0-4E12-A062-FEFD65C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9155E2-C90A-4167-8C06-F0C99D43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0227B2C-F552-4B19-B3C6-F2054B4E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E6D1E88-B057-440D-BDAC-CB5C34C6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9243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한쪽 원호로 먼저 이탈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3E136F4-649C-474D-A6BE-24C39375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2386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조향 한계와 횡그립 중 작은 값으로 최대 안전곡률 결정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4D7526F-11A4-4F7F-A1A4-9BA90D15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449246B-9133-43EE-BD80-757BCB9B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FE48832-D49A-4A3B-9E69-40E1B3E4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FDB9FCD-5DB0-49D2-AF4A-F453C08F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149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완성 경로를 다시 안전검사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9F2C580-2296-4550-81C3-2250EE8C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2292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차체·인지오차·벽·다른 장애물과 충돌하지 않을 때만 발행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0113538-71B0-44DF-85CB-3C28EFB6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29275"/>
            <a:ext cx="447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5F27747-BA0F-4B27-8627-35452B71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483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Tier 3까지 불가능하면 감속·제동으로 전환</a:t>
            </a:r>
          </a:p>
        </p:txBody>
      </p:sp>
    </p:spTree>
    <p:extLst>
      <p:ext uri="{BB962C8B-B14F-4D97-AF65-F5344CB8AC3E}">
        <p14:creationId xmlns:p14="http://schemas.microsoft.com/office/powerpoint/2010/main" val="573754812"/>
      </p:ext>
    </p:extLst>
  </p:cSld>
</p:sld>
</file>

<file path=ppt/theme/theme1.xml><?xml version="1.0" encoding="utf-8"?>
<a:theme xmlns:a="http://schemas.openxmlformats.org/drawingml/2006/main" name="발표자료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2026-09-12T10:10:20.9190000Z</dcterms:created>
  <dcterms:modified xsi:type="dcterms:W3CDTF">2026-09-12T10:10:20.9190000Z</dcterms:modified>
</coreProperties>
</file>